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63840" y="0"/>
            <a:ext cx="4327855" cy="6858000"/>
          </a:xfrm>
          <a:prstGeom prst="rect">
            <a:avLst/>
          </a:prstGeom>
          <a:solidFill>
            <a:srgbClr val="0E1D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595360" y="1481328"/>
            <a:ext cx="96012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2057400"/>
            <a:ext cx="3017520" cy="3108960"/>
          </a:xfrm>
          <a:prstGeom prst="rect">
            <a:avLst/>
          </a:prstGeom>
          <a:noFill/>
        </p:spPr>
        <p:txBody>
          <a:bodyPr wrap="square" anchor="t" lIns="0" rIns="0" tIns="0" bIns="0">
            <a:spAutoFit/>
          </a:bodyPr>
          <a:lstStyle/>
          <a:p>
            <a:pPr algn="l">
              <a:lnSpc>
                <a:spcPct val="95000"/>
              </a:lnSpc>
              <a:spcBef>
                <a:spcPts val="0"/>
              </a:spcBef>
              <a:spcAft>
                <a:spcPts val="200"/>
              </a:spcAft>
            </a:pPr>
            <a:r>
              <a:rPr sz="4400" b="1">
                <a:solidFill>
                  <a:srgbClr val="FFFFFF"/>
                </a:solidFill>
                <a:latin typeface="Segoe UI"/>
              </a:rPr>
              <a:t>9</a:t>
            </a:r>
          </a:p>
          <a:p>
            <a:pPr algn="l">
              <a:lnSpc>
                <a:spcPct val="95000"/>
              </a:lnSpc>
              <a:spcBef>
                <a:spcPts val="0"/>
              </a:spcBef>
              <a:spcAft>
                <a:spcPts val="200"/>
              </a:spcAft>
            </a:pPr>
            <a:r>
              <a:rPr sz="1500" b="0">
                <a:solidFill>
                  <a:srgbClr val="94A3B8"/>
                </a:solidFill>
                <a:latin typeface="Segoe UI"/>
              </a:rPr>
              <a:t>hosting options</a:t>
            </a:r>
          </a:p>
          <a:p>
            <a:pPr algn="l">
              <a:lnSpc>
                <a:spcPct val="95000"/>
              </a:lnSpc>
              <a:spcBef>
                <a:spcPts val="0"/>
              </a:spcBef>
              <a:spcAft>
                <a:spcPts val="200"/>
              </a:spcAft>
            </a:pPr>
            <a:r>
              <a:rPr sz="800" b="0">
                <a:solidFill>
                  <a:srgbClr val="FFFFFF"/>
                </a:solidFill>
                <a:latin typeface="Segoe UI"/>
              </a:rPr>
              <a:t/>
            </a:r>
          </a:p>
          <a:p>
            <a:pPr algn="l">
              <a:lnSpc>
                <a:spcPct val="95000"/>
              </a:lnSpc>
              <a:spcBef>
                <a:spcPts val="0"/>
              </a:spcBef>
              <a:spcAft>
                <a:spcPts val="200"/>
              </a:spcAft>
            </a:pPr>
            <a:r>
              <a:rPr sz="4400" b="1">
                <a:solidFill>
                  <a:srgbClr val="FFFFFF"/>
                </a:solidFill>
                <a:latin typeface="Segoe UI"/>
              </a:rPr>
              <a:t>6</a:t>
            </a:r>
          </a:p>
          <a:p>
            <a:pPr algn="l">
              <a:lnSpc>
                <a:spcPct val="95000"/>
              </a:lnSpc>
              <a:spcBef>
                <a:spcPts val="0"/>
              </a:spcBef>
              <a:spcAft>
                <a:spcPts val="200"/>
              </a:spcAft>
            </a:pPr>
            <a:r>
              <a:rPr sz="1500" b="0">
                <a:solidFill>
                  <a:srgbClr val="94A3B8"/>
                </a:solidFill>
                <a:latin typeface="Segoe UI"/>
              </a:rPr>
              <a:t>cloud providers</a:t>
            </a:r>
          </a:p>
          <a:p>
            <a:pPr algn="l">
              <a:lnSpc>
                <a:spcPct val="95000"/>
              </a:lnSpc>
              <a:spcBef>
                <a:spcPts val="0"/>
              </a:spcBef>
              <a:spcAft>
                <a:spcPts val="200"/>
              </a:spcAft>
            </a:pPr>
            <a:r>
              <a:rPr sz="800" b="0">
                <a:solidFill>
                  <a:srgbClr val="FFFFFF"/>
                </a:solidFill>
                <a:latin typeface="Segoe UI"/>
              </a:rPr>
              <a:t/>
            </a:r>
          </a:p>
          <a:p>
            <a:pPr algn="l">
              <a:lnSpc>
                <a:spcPct val="95000"/>
              </a:lnSpc>
              <a:spcBef>
                <a:spcPts val="0"/>
              </a:spcBef>
              <a:spcAft>
                <a:spcPts val="200"/>
              </a:spcAft>
            </a:pPr>
            <a:r>
              <a:rPr sz="4400" b="1">
                <a:solidFill>
                  <a:srgbClr val="FFFFFF"/>
                </a:solidFill>
                <a:latin typeface="Segoe UI"/>
              </a:rPr>
              <a:t>1</a:t>
            </a:r>
          </a:p>
          <a:p>
            <a:pPr algn="l">
              <a:lnSpc>
                <a:spcPct val="95000"/>
              </a:lnSpc>
              <a:spcBef>
                <a:spcPts val="0"/>
              </a:spcBef>
              <a:spcAft>
                <a:spcPts val="200"/>
              </a:spcAft>
            </a:pPr>
            <a:r>
              <a:rPr sz="1500" b="0">
                <a:solidFill>
                  <a:srgbClr val="94A3B8"/>
                </a:solidFill>
                <a:latin typeface="Segoe UI"/>
              </a:rPr>
              <a:t>clear recommendation</a:t>
            </a:r>
          </a:p>
        </p:txBody>
      </p:sp>
      <p:sp>
        <p:nvSpPr>
          <p:cNvPr id="7" name="TextBox 6"/>
          <p:cNvSpPr txBox="1"/>
          <p:nvPr/>
        </p:nvSpPr>
        <p:spPr>
          <a:xfrm>
            <a:off x="1051560" y="1417320"/>
            <a:ext cx="6583680" cy="45720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PREPARED FOR THE CLIENT  ·  AUGUST 2026</a:t>
            </a:r>
          </a:p>
        </p:txBody>
      </p:sp>
      <p:sp>
        <p:nvSpPr>
          <p:cNvPr id="8" name="TextBox 7"/>
          <p:cNvSpPr txBox="1"/>
          <p:nvPr/>
        </p:nvSpPr>
        <p:spPr>
          <a:xfrm>
            <a:off x="1051560" y="1965960"/>
            <a:ext cx="6583680" cy="2194560"/>
          </a:xfrm>
          <a:prstGeom prst="rect">
            <a:avLst/>
          </a:prstGeom>
          <a:noFill/>
        </p:spPr>
        <p:txBody>
          <a:bodyPr wrap="square" anchor="t" lIns="0" rIns="0" tIns="0" bIns="0">
            <a:spAutoFit/>
          </a:bodyPr>
          <a:lstStyle/>
          <a:p>
            <a:pPr algn="l">
              <a:lnSpc>
                <a:spcPct val="100000"/>
              </a:lnSpc>
              <a:spcBef>
                <a:spcPts val="0"/>
              </a:spcBef>
              <a:spcAft>
                <a:spcPts val="400"/>
              </a:spcAft>
            </a:pPr>
            <a:r>
              <a:rPr sz="4000" b="1">
                <a:solidFill>
                  <a:srgbClr val="FFFFFF"/>
                </a:solidFill>
                <a:latin typeface="Cambria"/>
              </a:rPr>
              <a:t>Running CLAMS on</a:t>
            </a:r>
          </a:p>
          <a:p>
            <a:pPr algn="l">
              <a:lnSpc>
                <a:spcPct val="100000"/>
              </a:lnSpc>
              <a:spcBef>
                <a:spcPts val="0"/>
              </a:spcBef>
              <a:spcAft>
                <a:spcPts val="400"/>
              </a:spcAft>
            </a:pPr>
            <a:r>
              <a:rPr sz="4000" b="1">
                <a:solidFill>
                  <a:srgbClr val="F59E0B"/>
                </a:solidFill>
                <a:latin typeface="Cambria"/>
              </a:rPr>
              <a:t>your own server</a:t>
            </a:r>
          </a:p>
        </p:txBody>
      </p:sp>
      <p:sp>
        <p:nvSpPr>
          <p:cNvPr id="9" name="TextBox 8"/>
          <p:cNvSpPr txBox="1"/>
          <p:nvPr/>
        </p:nvSpPr>
        <p:spPr>
          <a:xfrm>
            <a:off x="1051560" y="3886200"/>
            <a:ext cx="6400800" cy="1737360"/>
          </a:xfrm>
          <a:prstGeom prst="rect">
            <a:avLst/>
          </a:prstGeom>
          <a:noFill/>
        </p:spPr>
        <p:txBody>
          <a:bodyPr wrap="square" anchor="t" lIns="0" rIns="0" tIns="0" bIns="0">
            <a:spAutoFit/>
          </a:bodyPr>
          <a:lstStyle/>
          <a:p>
            <a:pPr algn="l">
              <a:lnSpc>
                <a:spcPct val="120000"/>
              </a:lnSpc>
              <a:spcBef>
                <a:spcPts val="0"/>
              </a:spcBef>
              <a:spcAft>
                <a:spcPts val="1000"/>
              </a:spcAft>
            </a:pPr>
            <a:r>
              <a:rPr sz="1500" b="0">
                <a:solidFill>
                  <a:srgbClr val="CBD5E1"/>
                </a:solidFill>
                <a:latin typeface="Segoe UI"/>
              </a:rPr>
              <a:t>Every option below runs the same CLAMS software. What changes is where the server sits, what it costs, and who looks after it.</a:t>
            </a:r>
          </a:p>
          <a:p>
            <a:pPr algn="l">
              <a:lnSpc>
                <a:spcPct val="120000"/>
              </a:lnSpc>
              <a:spcBef>
                <a:spcPts val="0"/>
              </a:spcBef>
              <a:spcAft>
                <a:spcPts val="1000"/>
              </a:spcAft>
            </a:pPr>
            <a:r>
              <a:rPr sz="1500" b="1">
                <a:solidFill>
                  <a:srgbClr val="FFFFFF"/>
                </a:solidFill>
                <a:latin typeface="Segoe UI"/>
              </a:rPr>
              <a:t>All prices are per month in Indian Rupees and already include 18% GST.</a:t>
            </a:r>
          </a:p>
        </p:txBody>
      </p:sp>
      <p:sp>
        <p:nvSpPr>
          <p:cNvPr id="10" name="Rectangle 9"/>
          <p:cNvSpPr/>
          <p:nvPr/>
        </p:nvSpPr>
        <p:spPr>
          <a:xfrm>
            <a:off x="1051560" y="5806440"/>
            <a:ext cx="45720" cy="548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5806440"/>
            <a:ext cx="5943600" cy="594360"/>
          </a:xfrm>
          <a:prstGeom prst="rect">
            <a:avLst/>
          </a:prstGeom>
          <a:noFill/>
        </p:spPr>
        <p:txBody>
          <a:bodyPr wrap="square" anchor="ctr" lIns="0" rIns="0" tIns="0" bIns="0">
            <a:spAutoFit/>
          </a:bodyPr>
          <a:lstStyle/>
          <a:p>
            <a:pPr algn="l">
              <a:lnSpc>
                <a:spcPct val="100000"/>
              </a:lnSpc>
              <a:spcBef>
                <a:spcPts val="0"/>
              </a:spcBef>
              <a:spcAft>
                <a:spcPts val="600"/>
              </a:spcAft>
            </a:pPr>
            <a:r>
              <a:rPr sz="1200" b="0">
                <a:solidFill>
                  <a:srgbClr val="94A3B8"/>
                </a:solidFill>
                <a:latin typeface="Segoe UI"/>
              </a:rPr>
              <a:t>Optispace  ·  Construction Labour Attendance Management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THE DECISION IN ONE PAGE</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0F172A"/>
                </a:solidFill>
                <a:latin typeface="Cambria"/>
              </a:rPr>
              <a:t>Three ways to own your CLAMS server</a:t>
            </a:r>
          </a:p>
        </p:txBody>
      </p:sp>
      <p:sp>
        <p:nvSpPr>
          <p:cNvPr id="6" name="Rectangle 5"/>
          <p:cNvSpPr/>
          <p:nvPr/>
        </p:nvSpPr>
        <p:spPr>
          <a:xfrm>
            <a:off x="822960" y="1691640"/>
            <a:ext cx="3401568" cy="41605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91640"/>
            <a:ext cx="340156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97280" y="2075688"/>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756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100" b="1">
                <a:solidFill>
                  <a:srgbClr val="FFFFFF"/>
                </a:solidFill>
                <a:latin typeface="Segoe UI"/>
              </a:rPr>
              <a:t>1</a:t>
            </a:r>
          </a:p>
        </p:txBody>
      </p:sp>
      <p:sp>
        <p:nvSpPr>
          <p:cNvPr id="10" name="TextBox 9"/>
          <p:cNvSpPr txBox="1"/>
          <p:nvPr/>
        </p:nvSpPr>
        <p:spPr>
          <a:xfrm>
            <a:off x="1097280" y="2788920"/>
            <a:ext cx="2852928" cy="822960"/>
          </a:xfrm>
          <a:prstGeom prst="rect">
            <a:avLst/>
          </a:prstGeom>
          <a:noFill/>
        </p:spPr>
        <p:txBody>
          <a:bodyPr wrap="square" anchor="t" lIns="0" rIns="0" tIns="0" bIns="0">
            <a:spAutoFit/>
          </a:bodyPr>
          <a:lstStyle/>
          <a:p>
            <a:pPr algn="l">
              <a:lnSpc>
                <a:spcPct val="105000"/>
              </a:lnSpc>
              <a:spcBef>
                <a:spcPts val="0"/>
              </a:spcBef>
              <a:spcAft>
                <a:spcPts val="0"/>
              </a:spcAft>
            </a:pPr>
            <a:r>
              <a:rPr sz="1800" b="1">
                <a:solidFill>
                  <a:srgbClr val="0F172A"/>
                </a:solidFill>
                <a:latin typeface="Cambria"/>
              </a:rPr>
              <a:t>Rent a ready server</a:t>
            </a:r>
          </a:p>
          <a:p>
            <a:pPr algn="l">
              <a:lnSpc>
                <a:spcPct val="105000"/>
              </a:lnSpc>
              <a:spcBef>
                <a:spcPts val="0"/>
              </a:spcBef>
              <a:spcAft>
                <a:spcPts val="0"/>
              </a:spcAft>
            </a:pPr>
            <a:r>
              <a:rPr sz="1800" b="1">
                <a:solidFill>
                  <a:srgbClr val="0F172A"/>
                </a:solidFill>
                <a:latin typeface="Cambria"/>
              </a:rPr>
              <a:t>(VPS)</a:t>
            </a:r>
          </a:p>
        </p:txBody>
      </p:sp>
      <p:sp>
        <p:nvSpPr>
          <p:cNvPr id="11" name="TextBox 10"/>
          <p:cNvSpPr txBox="1"/>
          <p:nvPr/>
        </p:nvSpPr>
        <p:spPr>
          <a:xfrm>
            <a:off x="1097280" y="3630168"/>
            <a:ext cx="2852928" cy="822960"/>
          </a:xfrm>
          <a:prstGeom prst="rect">
            <a:avLst/>
          </a:prstGeom>
          <a:noFill/>
        </p:spPr>
        <p:txBody>
          <a:bodyPr wrap="square" anchor="t" lIns="0" rIns="0" tIns="0" bIns="0">
            <a:spAutoFit/>
          </a:bodyPr>
          <a:lstStyle/>
          <a:p>
            <a:pPr algn="l">
              <a:lnSpc>
                <a:spcPct val="120000"/>
              </a:lnSpc>
              <a:spcBef>
                <a:spcPts val="0"/>
              </a:spcBef>
              <a:spcAft>
                <a:spcPts val="600"/>
              </a:spcAft>
            </a:pPr>
            <a:r>
              <a:rPr sz="1250" b="0">
                <a:solidFill>
                  <a:srgbClr val="64748B"/>
                </a:solidFill>
                <a:latin typeface="Segoe UI"/>
              </a:rPr>
              <a:t>You rent a machine by the month. It is switched on and ready in minutes.</a:t>
            </a:r>
          </a:p>
        </p:txBody>
      </p:sp>
      <p:sp>
        <p:nvSpPr>
          <p:cNvPr id="12" name="TextBox 11"/>
          <p:cNvSpPr txBox="1"/>
          <p:nvPr/>
        </p:nvSpPr>
        <p:spPr>
          <a:xfrm>
            <a:off x="1097280" y="4306824"/>
            <a:ext cx="2852928" cy="1005840"/>
          </a:xfrm>
          <a:prstGeom prst="rect">
            <a:avLst/>
          </a:prstGeom>
          <a:noFill/>
        </p:spPr>
        <p:txBody>
          <a:bodyPr wrap="square" anchor="t" lIns="0" rIns="0" tIns="0" bIns="0">
            <a:spAutoFit/>
          </a:bodyPr>
          <a:lstStyle/>
          <a:p>
            <a:pPr algn="l" marL="146304" indent="-146304">
              <a:lnSpc>
                <a:spcPct val="105000"/>
              </a:lnSpc>
              <a:spcBef>
                <a:spcPts val="0"/>
              </a:spcBef>
              <a:spcAft>
                <a:spcPts val="500"/>
              </a:spcAft>
            </a:pPr>
            <a:r>
              <a:rPr sz="1200" b="1">
                <a:solidFill>
                  <a:srgbClr val="F59E0B"/>
                </a:solidFill>
                <a:latin typeface="Segoe UI"/>
              </a:rPr>
              <a:t>•  </a:t>
            </a:r>
            <a:r>
              <a:rPr sz="1200" b="0">
                <a:solidFill>
                  <a:srgbClr val="0F172A"/>
                </a:solidFill>
                <a:latin typeface="Segoe UI"/>
              </a:rPr>
              <a:t>Cheapest by far</a:t>
            </a:r>
          </a:p>
          <a:p>
            <a:pPr algn="l" marL="146304" indent="-146304">
              <a:lnSpc>
                <a:spcPct val="105000"/>
              </a:lnSpc>
              <a:spcBef>
                <a:spcPts val="0"/>
              </a:spcBef>
              <a:spcAft>
                <a:spcPts val="500"/>
              </a:spcAft>
            </a:pPr>
            <a:r>
              <a:rPr sz="1200" b="1">
                <a:solidFill>
                  <a:srgbClr val="F59E0B"/>
                </a:solidFill>
                <a:latin typeface="Segoe UI"/>
              </a:rPr>
              <a:t>•  </a:t>
            </a:r>
            <a:r>
              <a:rPr sz="1200" b="0">
                <a:solidFill>
                  <a:srgbClr val="0F172A"/>
                </a:solidFill>
                <a:latin typeface="Segoe UI"/>
              </a:rPr>
              <a:t>One fixed price, no surprises</a:t>
            </a:r>
          </a:p>
          <a:p>
            <a:pPr algn="l" marL="146304" indent="-146304">
              <a:lnSpc>
                <a:spcPct val="105000"/>
              </a:lnSpc>
              <a:spcBef>
                <a:spcPts val="0"/>
              </a:spcBef>
              <a:spcAft>
                <a:spcPts val="500"/>
              </a:spcAft>
            </a:pPr>
            <a:r>
              <a:rPr sz="1200" b="1">
                <a:solidFill>
                  <a:srgbClr val="F59E0B"/>
                </a:solidFill>
                <a:latin typeface="Segoe UI"/>
              </a:rPr>
              <a:t>•  </a:t>
            </a:r>
            <a:r>
              <a:rPr sz="1200" b="0">
                <a:solidFill>
                  <a:srgbClr val="0F172A"/>
                </a:solidFill>
                <a:latin typeface="Segoe UI"/>
              </a:rPr>
              <a:t>Good for one company, many sites</a:t>
            </a:r>
          </a:p>
        </p:txBody>
      </p:sp>
      <p:sp>
        <p:nvSpPr>
          <p:cNvPr id="13" name="Rectangle 12"/>
          <p:cNvSpPr/>
          <p:nvPr/>
        </p:nvSpPr>
        <p:spPr>
          <a:xfrm>
            <a:off x="1097280" y="5193792"/>
            <a:ext cx="2852928"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321808"/>
            <a:ext cx="2852928" cy="365760"/>
          </a:xfrm>
          <a:prstGeom prst="rect">
            <a:avLst/>
          </a:prstGeom>
          <a:noFill/>
        </p:spPr>
        <p:txBody>
          <a:bodyPr wrap="square" anchor="t" lIns="0" rIns="0" tIns="0" bIns="0">
            <a:spAutoFit/>
          </a:bodyPr>
          <a:lstStyle/>
          <a:p>
            <a:pPr algn="l">
              <a:lnSpc>
                <a:spcPct val="110000"/>
              </a:lnSpc>
              <a:spcBef>
                <a:spcPts val="0"/>
              </a:spcBef>
              <a:spcAft>
                <a:spcPts val="600"/>
              </a:spcAft>
            </a:pPr>
            <a:r>
              <a:rPr sz="1050" b="1">
                <a:solidFill>
                  <a:srgbClr val="94A3B8"/>
                </a:solidFill>
                <a:latin typeface="Segoe UI"/>
              </a:rPr>
              <a:t>Hostinger · DigitalOcean · Akamai · Hetzner</a:t>
            </a:r>
          </a:p>
        </p:txBody>
      </p:sp>
      <p:sp>
        <p:nvSpPr>
          <p:cNvPr id="15" name="Rectangle 14"/>
          <p:cNvSpPr/>
          <p:nvPr/>
        </p:nvSpPr>
        <p:spPr>
          <a:xfrm>
            <a:off x="4517136" y="1691640"/>
            <a:ext cx="3401568" cy="41605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17136" y="1691640"/>
            <a:ext cx="3401568" cy="914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791456" y="2075688"/>
            <a:ext cx="566928" cy="56692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91456" y="20756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100" b="1">
                <a:solidFill>
                  <a:srgbClr val="FFFFFF"/>
                </a:solidFill>
                <a:latin typeface="Segoe UI"/>
              </a:rPr>
              <a:t>2</a:t>
            </a:r>
          </a:p>
        </p:txBody>
      </p:sp>
      <p:sp>
        <p:nvSpPr>
          <p:cNvPr id="19" name="TextBox 18"/>
          <p:cNvSpPr txBox="1"/>
          <p:nvPr/>
        </p:nvSpPr>
        <p:spPr>
          <a:xfrm>
            <a:off x="4791456" y="2788920"/>
            <a:ext cx="2852928" cy="822960"/>
          </a:xfrm>
          <a:prstGeom prst="rect">
            <a:avLst/>
          </a:prstGeom>
          <a:noFill/>
        </p:spPr>
        <p:txBody>
          <a:bodyPr wrap="square" anchor="t" lIns="0" rIns="0" tIns="0" bIns="0">
            <a:spAutoFit/>
          </a:bodyPr>
          <a:lstStyle/>
          <a:p>
            <a:pPr algn="l">
              <a:lnSpc>
                <a:spcPct val="105000"/>
              </a:lnSpc>
              <a:spcBef>
                <a:spcPts val="0"/>
              </a:spcBef>
              <a:spcAft>
                <a:spcPts val="0"/>
              </a:spcAft>
            </a:pPr>
            <a:r>
              <a:rPr sz="1800" b="1">
                <a:solidFill>
                  <a:srgbClr val="0F172A"/>
                </a:solidFill>
                <a:latin typeface="Cambria"/>
              </a:rPr>
              <a:t>Open your own</a:t>
            </a:r>
          </a:p>
          <a:p>
            <a:pPr algn="l">
              <a:lnSpc>
                <a:spcPct val="105000"/>
              </a:lnSpc>
              <a:spcBef>
                <a:spcPts val="0"/>
              </a:spcBef>
              <a:spcAft>
                <a:spcPts val="0"/>
              </a:spcAft>
            </a:pPr>
            <a:r>
              <a:rPr sz="1800" b="1">
                <a:solidFill>
                  <a:srgbClr val="0F172A"/>
                </a:solidFill>
                <a:latin typeface="Cambria"/>
              </a:rPr>
              <a:t>cloud account</a:t>
            </a:r>
          </a:p>
        </p:txBody>
      </p:sp>
      <p:sp>
        <p:nvSpPr>
          <p:cNvPr id="20" name="TextBox 19"/>
          <p:cNvSpPr txBox="1"/>
          <p:nvPr/>
        </p:nvSpPr>
        <p:spPr>
          <a:xfrm>
            <a:off x="4791456" y="3630168"/>
            <a:ext cx="2852928" cy="822960"/>
          </a:xfrm>
          <a:prstGeom prst="rect">
            <a:avLst/>
          </a:prstGeom>
          <a:noFill/>
        </p:spPr>
        <p:txBody>
          <a:bodyPr wrap="square" anchor="t" lIns="0" rIns="0" tIns="0" bIns="0">
            <a:spAutoFit/>
          </a:bodyPr>
          <a:lstStyle/>
          <a:p>
            <a:pPr algn="l">
              <a:lnSpc>
                <a:spcPct val="120000"/>
              </a:lnSpc>
              <a:spcBef>
                <a:spcPts val="0"/>
              </a:spcBef>
              <a:spcAft>
                <a:spcPts val="600"/>
              </a:spcAft>
            </a:pPr>
            <a:r>
              <a:rPr sz="1250" b="0">
                <a:solidFill>
                  <a:srgbClr val="64748B"/>
                </a:solidFill>
                <a:latin typeface="Segoe UI"/>
              </a:rPr>
              <a:t>You own an AWS, Azure or Google account. You pay for exactly what you use.</a:t>
            </a:r>
          </a:p>
        </p:txBody>
      </p:sp>
      <p:sp>
        <p:nvSpPr>
          <p:cNvPr id="21" name="TextBox 20"/>
          <p:cNvSpPr txBox="1"/>
          <p:nvPr/>
        </p:nvSpPr>
        <p:spPr>
          <a:xfrm>
            <a:off x="4791456" y="4306824"/>
            <a:ext cx="2852928" cy="1005840"/>
          </a:xfrm>
          <a:prstGeom prst="rect">
            <a:avLst/>
          </a:prstGeom>
          <a:noFill/>
        </p:spPr>
        <p:txBody>
          <a:bodyPr wrap="square" anchor="t" lIns="0" rIns="0" tIns="0" bIns="0">
            <a:spAutoFit/>
          </a:bodyPr>
          <a:lstStyle/>
          <a:p>
            <a:pPr algn="l" marL="146304" indent="-146304">
              <a:lnSpc>
                <a:spcPct val="105000"/>
              </a:lnSpc>
              <a:spcBef>
                <a:spcPts val="0"/>
              </a:spcBef>
              <a:spcAft>
                <a:spcPts val="500"/>
              </a:spcAft>
            </a:pPr>
            <a:r>
              <a:rPr sz="1200" b="1">
                <a:solidFill>
                  <a:srgbClr val="2563EB"/>
                </a:solidFill>
                <a:latin typeface="Segoe UI"/>
              </a:rPr>
              <a:t>•  </a:t>
            </a:r>
            <a:r>
              <a:rPr sz="1200" b="0">
                <a:solidFill>
                  <a:srgbClr val="0F172A"/>
                </a:solidFill>
                <a:latin typeface="Segoe UI"/>
              </a:rPr>
              <a:t>Room to grow to any size</a:t>
            </a:r>
          </a:p>
          <a:p>
            <a:pPr algn="l" marL="146304" indent="-146304">
              <a:lnSpc>
                <a:spcPct val="105000"/>
              </a:lnSpc>
              <a:spcBef>
                <a:spcPts val="0"/>
              </a:spcBef>
              <a:spcAft>
                <a:spcPts val="500"/>
              </a:spcAft>
            </a:pPr>
            <a:r>
              <a:rPr sz="1200" b="1">
                <a:solidFill>
                  <a:srgbClr val="2563EB"/>
                </a:solidFill>
                <a:latin typeface="Segoe UI"/>
              </a:rPr>
              <a:t>•  </a:t>
            </a:r>
            <a:r>
              <a:rPr sz="1200" b="0">
                <a:solidFill>
                  <a:srgbClr val="0F172A"/>
                </a:solidFill>
                <a:latin typeface="Segoe UI"/>
              </a:rPr>
              <a:t>Backups, monitoring built in</a:t>
            </a:r>
          </a:p>
          <a:p>
            <a:pPr algn="l" marL="146304" indent="-146304">
              <a:lnSpc>
                <a:spcPct val="105000"/>
              </a:lnSpc>
              <a:spcBef>
                <a:spcPts val="0"/>
              </a:spcBef>
              <a:spcAft>
                <a:spcPts val="500"/>
              </a:spcAft>
            </a:pPr>
            <a:r>
              <a:rPr sz="1200" b="1">
                <a:solidFill>
                  <a:srgbClr val="2563EB"/>
                </a:solidFill>
                <a:latin typeface="Segoe UI"/>
              </a:rPr>
              <a:t>•  </a:t>
            </a:r>
            <a:r>
              <a:rPr sz="1200" b="0">
                <a:solidFill>
                  <a:srgbClr val="0F172A"/>
                </a:solidFill>
                <a:latin typeface="Segoe UI"/>
              </a:rPr>
              <a:t>Accepted in audits and tenders</a:t>
            </a:r>
          </a:p>
        </p:txBody>
      </p:sp>
      <p:sp>
        <p:nvSpPr>
          <p:cNvPr id="22" name="Rectangle 21"/>
          <p:cNvSpPr/>
          <p:nvPr/>
        </p:nvSpPr>
        <p:spPr>
          <a:xfrm>
            <a:off x="4791456" y="5193792"/>
            <a:ext cx="2852928"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91456" y="5321808"/>
            <a:ext cx="2852928" cy="365760"/>
          </a:xfrm>
          <a:prstGeom prst="rect">
            <a:avLst/>
          </a:prstGeom>
          <a:noFill/>
        </p:spPr>
        <p:txBody>
          <a:bodyPr wrap="square" anchor="t" lIns="0" rIns="0" tIns="0" bIns="0">
            <a:spAutoFit/>
          </a:bodyPr>
          <a:lstStyle/>
          <a:p>
            <a:pPr algn="l">
              <a:lnSpc>
                <a:spcPct val="110000"/>
              </a:lnSpc>
              <a:spcBef>
                <a:spcPts val="0"/>
              </a:spcBef>
              <a:spcAft>
                <a:spcPts val="600"/>
              </a:spcAft>
            </a:pPr>
            <a:r>
              <a:rPr sz="1050" b="1">
                <a:solidFill>
                  <a:srgbClr val="94A3B8"/>
                </a:solidFill>
                <a:latin typeface="Segoe UI"/>
              </a:rPr>
              <a:t>AWS · Microsoft Azure · Google Cloud</a:t>
            </a:r>
          </a:p>
        </p:txBody>
      </p:sp>
      <p:sp>
        <p:nvSpPr>
          <p:cNvPr id="24" name="Rectangle 23"/>
          <p:cNvSpPr/>
          <p:nvPr/>
        </p:nvSpPr>
        <p:spPr>
          <a:xfrm>
            <a:off x="8211312" y="1691640"/>
            <a:ext cx="3401568" cy="41605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11312" y="1691640"/>
            <a:ext cx="3401568" cy="9144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85632" y="2075688"/>
            <a:ext cx="566928" cy="56692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85632" y="20756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100" b="1">
                <a:solidFill>
                  <a:srgbClr val="FFFFFF"/>
                </a:solidFill>
                <a:latin typeface="Segoe UI"/>
              </a:rPr>
              <a:t>3</a:t>
            </a:r>
          </a:p>
        </p:txBody>
      </p:sp>
      <p:sp>
        <p:nvSpPr>
          <p:cNvPr id="28" name="TextBox 27"/>
          <p:cNvSpPr txBox="1"/>
          <p:nvPr/>
        </p:nvSpPr>
        <p:spPr>
          <a:xfrm>
            <a:off x="8485632" y="2788920"/>
            <a:ext cx="2852928" cy="822960"/>
          </a:xfrm>
          <a:prstGeom prst="rect">
            <a:avLst/>
          </a:prstGeom>
          <a:noFill/>
        </p:spPr>
        <p:txBody>
          <a:bodyPr wrap="square" anchor="t" lIns="0" rIns="0" tIns="0" bIns="0">
            <a:spAutoFit/>
          </a:bodyPr>
          <a:lstStyle/>
          <a:p>
            <a:pPr algn="l">
              <a:lnSpc>
                <a:spcPct val="105000"/>
              </a:lnSpc>
              <a:spcBef>
                <a:spcPts val="0"/>
              </a:spcBef>
              <a:spcAft>
                <a:spcPts val="0"/>
              </a:spcAft>
            </a:pPr>
            <a:r>
              <a:rPr sz="1800" b="1">
                <a:solidFill>
                  <a:srgbClr val="0F172A"/>
                </a:solidFill>
                <a:latin typeface="Cambria"/>
              </a:rPr>
              <a:t>Buy a machine for</a:t>
            </a:r>
          </a:p>
          <a:p>
            <a:pPr algn="l">
              <a:lnSpc>
                <a:spcPct val="105000"/>
              </a:lnSpc>
              <a:spcBef>
                <a:spcPts val="0"/>
              </a:spcBef>
              <a:spcAft>
                <a:spcPts val="0"/>
              </a:spcAft>
            </a:pPr>
            <a:r>
              <a:rPr sz="1800" b="1">
                <a:solidFill>
                  <a:srgbClr val="0F172A"/>
                </a:solidFill>
                <a:latin typeface="Cambria"/>
              </a:rPr>
              <a:t>your own office</a:t>
            </a:r>
          </a:p>
        </p:txBody>
      </p:sp>
      <p:sp>
        <p:nvSpPr>
          <p:cNvPr id="29" name="TextBox 28"/>
          <p:cNvSpPr txBox="1"/>
          <p:nvPr/>
        </p:nvSpPr>
        <p:spPr>
          <a:xfrm>
            <a:off x="8485632" y="3630168"/>
            <a:ext cx="2852928" cy="822960"/>
          </a:xfrm>
          <a:prstGeom prst="rect">
            <a:avLst/>
          </a:prstGeom>
          <a:noFill/>
        </p:spPr>
        <p:txBody>
          <a:bodyPr wrap="square" anchor="t" lIns="0" rIns="0" tIns="0" bIns="0">
            <a:spAutoFit/>
          </a:bodyPr>
          <a:lstStyle/>
          <a:p>
            <a:pPr algn="l">
              <a:lnSpc>
                <a:spcPct val="120000"/>
              </a:lnSpc>
              <a:spcBef>
                <a:spcPts val="0"/>
              </a:spcBef>
              <a:spcAft>
                <a:spcPts val="600"/>
              </a:spcAft>
            </a:pPr>
            <a:r>
              <a:rPr sz="1250" b="0">
                <a:solidFill>
                  <a:srgbClr val="64748B"/>
                </a:solidFill>
                <a:latin typeface="Segoe UI"/>
              </a:rPr>
              <a:t>You buy the hardware once and keep it in your own building.</a:t>
            </a:r>
          </a:p>
        </p:txBody>
      </p:sp>
      <p:sp>
        <p:nvSpPr>
          <p:cNvPr id="30" name="TextBox 29"/>
          <p:cNvSpPr txBox="1"/>
          <p:nvPr/>
        </p:nvSpPr>
        <p:spPr>
          <a:xfrm>
            <a:off x="8485632" y="4306824"/>
            <a:ext cx="2852928" cy="1005840"/>
          </a:xfrm>
          <a:prstGeom prst="rect">
            <a:avLst/>
          </a:prstGeom>
          <a:noFill/>
        </p:spPr>
        <p:txBody>
          <a:bodyPr wrap="square" anchor="t" lIns="0" rIns="0" tIns="0" bIns="0">
            <a:spAutoFit/>
          </a:bodyPr>
          <a:lstStyle/>
          <a:p>
            <a:pPr algn="l" marL="146304" indent="-146304">
              <a:lnSpc>
                <a:spcPct val="105000"/>
              </a:lnSpc>
              <a:spcBef>
                <a:spcPts val="0"/>
              </a:spcBef>
              <a:spcAft>
                <a:spcPts val="500"/>
              </a:spcAft>
            </a:pPr>
            <a:r>
              <a:rPr sz="1200" b="1">
                <a:solidFill>
                  <a:srgbClr val="0E9488"/>
                </a:solidFill>
                <a:latin typeface="Segoe UI"/>
              </a:rPr>
              <a:t>•  </a:t>
            </a:r>
            <a:r>
              <a:rPr sz="1200" b="0">
                <a:solidFill>
                  <a:srgbClr val="0F172A"/>
                </a:solidFill>
                <a:latin typeface="Segoe UI"/>
              </a:rPr>
              <a:t>The hardware is yours</a:t>
            </a:r>
          </a:p>
          <a:p>
            <a:pPr algn="l" marL="146304" indent="-146304">
              <a:lnSpc>
                <a:spcPct val="105000"/>
              </a:lnSpc>
              <a:spcBef>
                <a:spcPts val="0"/>
              </a:spcBef>
              <a:spcAft>
                <a:spcPts val="500"/>
              </a:spcAft>
            </a:pPr>
            <a:r>
              <a:rPr sz="1200" b="1">
                <a:solidFill>
                  <a:srgbClr val="0E9488"/>
                </a:solidFill>
                <a:latin typeface="Segoe UI"/>
              </a:rPr>
              <a:t>•  </a:t>
            </a:r>
            <a:r>
              <a:rPr sz="1200" b="0">
                <a:solidFill>
                  <a:srgbClr val="0F172A"/>
                </a:solidFill>
                <a:latin typeface="Segoe UI"/>
              </a:rPr>
              <a:t>Nothing leaves your premises</a:t>
            </a:r>
          </a:p>
          <a:p>
            <a:pPr algn="l" marL="146304" indent="-146304">
              <a:lnSpc>
                <a:spcPct val="105000"/>
              </a:lnSpc>
              <a:spcBef>
                <a:spcPts val="0"/>
              </a:spcBef>
              <a:spcAft>
                <a:spcPts val="500"/>
              </a:spcAft>
            </a:pPr>
            <a:r>
              <a:rPr sz="1200" b="1">
                <a:solidFill>
                  <a:srgbClr val="0E9488"/>
                </a:solidFill>
                <a:latin typeface="Segoe UI"/>
              </a:rPr>
              <a:t>•  </a:t>
            </a:r>
            <a:r>
              <a:rPr sz="1200" b="0">
                <a:solidFill>
                  <a:srgbClr val="0F172A"/>
                </a:solidFill>
                <a:latin typeface="Segoe UI"/>
              </a:rPr>
              <a:t>No monthly rent to anyone</a:t>
            </a:r>
          </a:p>
        </p:txBody>
      </p:sp>
      <p:sp>
        <p:nvSpPr>
          <p:cNvPr id="31" name="Rectangle 30"/>
          <p:cNvSpPr/>
          <p:nvPr/>
        </p:nvSpPr>
        <p:spPr>
          <a:xfrm>
            <a:off x="8485632" y="5193792"/>
            <a:ext cx="2852928"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85632" y="5321808"/>
            <a:ext cx="2852928" cy="365760"/>
          </a:xfrm>
          <a:prstGeom prst="rect">
            <a:avLst/>
          </a:prstGeom>
          <a:noFill/>
        </p:spPr>
        <p:txBody>
          <a:bodyPr wrap="square" anchor="t" lIns="0" rIns="0" tIns="0" bIns="0">
            <a:spAutoFit/>
          </a:bodyPr>
          <a:lstStyle/>
          <a:p>
            <a:pPr algn="l">
              <a:lnSpc>
                <a:spcPct val="110000"/>
              </a:lnSpc>
              <a:spcBef>
                <a:spcPts val="0"/>
              </a:spcBef>
              <a:spcAft>
                <a:spcPts val="600"/>
              </a:spcAft>
            </a:pPr>
            <a:r>
              <a:rPr sz="1050" b="1">
                <a:solidFill>
                  <a:srgbClr val="94A3B8"/>
                </a:solidFill>
                <a:latin typeface="Segoe UI"/>
              </a:rPr>
              <a:t>Dell / HPE tower server + UPS</a:t>
            </a:r>
          </a:p>
        </p:txBody>
      </p:sp>
      <p:sp>
        <p:nvSpPr>
          <p:cNvPr id="33" name="TextBox 32"/>
          <p:cNvSpPr txBox="1"/>
          <p:nvPr/>
        </p:nvSpPr>
        <p:spPr>
          <a:xfrm>
            <a:off x="822960" y="6035040"/>
            <a:ext cx="1060704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0">
                <a:solidFill>
                  <a:srgbClr val="64748B"/>
                </a:solidFill>
                <a:latin typeface="Segoe UI"/>
              </a:rPr>
              <a:t>Whichever you choose, CLAMS itself does not change. It is packed as containers and installs the same way on all of them.</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SIZING</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0F172A"/>
                </a:solidFill>
                <a:latin typeface="Cambria"/>
              </a:rPr>
              <a:t>What CLAMS needs to run</a:t>
            </a:r>
          </a:p>
        </p:txBody>
      </p:sp>
      <p:sp>
        <p:nvSpPr>
          <p:cNvPr id="6" name="TextBox 5"/>
          <p:cNvSpPr txBox="1"/>
          <p:nvPr/>
        </p:nvSpPr>
        <p:spPr>
          <a:xfrm>
            <a:off x="822960" y="1572768"/>
            <a:ext cx="5120640" cy="365760"/>
          </a:xfrm>
          <a:prstGeom prst="rect">
            <a:avLst/>
          </a:prstGeom>
          <a:noFill/>
        </p:spPr>
        <p:txBody>
          <a:bodyPr wrap="square" anchor="t" lIns="0" rIns="0" tIns="0" bIns="0">
            <a:spAutoFit/>
          </a:bodyPr>
          <a:lstStyle/>
          <a:p>
            <a:pPr algn="l">
              <a:lnSpc>
                <a:spcPct val="100000"/>
              </a:lnSpc>
              <a:spcBef>
                <a:spcPts val="0"/>
              </a:spcBef>
              <a:spcAft>
                <a:spcPts val="600"/>
              </a:spcAft>
            </a:pPr>
            <a:r>
              <a:rPr sz="1150" b="1">
                <a:solidFill>
                  <a:srgbClr val="64748B"/>
                </a:solidFill>
                <a:latin typeface="Segoe UI"/>
              </a:rPr>
              <a:t>FOUR PARTS RUN ON ONE SERVER</a:t>
            </a:r>
          </a:p>
        </p:txBody>
      </p:sp>
      <p:sp>
        <p:nvSpPr>
          <p:cNvPr id="7" name="Rectangle 6"/>
          <p:cNvSpPr/>
          <p:nvPr/>
        </p:nvSpPr>
        <p:spPr>
          <a:xfrm>
            <a:off x="822960" y="1993392"/>
            <a:ext cx="5120640"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993392"/>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33856" y="2112264"/>
            <a:ext cx="4663440" cy="274320"/>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0F172A"/>
                </a:solidFill>
                <a:latin typeface="Segoe UI"/>
              </a:rPr>
              <a:t>API service</a:t>
            </a:r>
          </a:p>
        </p:txBody>
      </p:sp>
      <p:sp>
        <p:nvSpPr>
          <p:cNvPr id="10" name="TextBox 9"/>
          <p:cNvSpPr txBox="1"/>
          <p:nvPr/>
        </p:nvSpPr>
        <p:spPr>
          <a:xfrm>
            <a:off x="1133856" y="2395728"/>
            <a:ext cx="4663440" cy="310896"/>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Receives every card tap from the phones and stores it safely.</a:t>
            </a:r>
          </a:p>
        </p:txBody>
      </p:sp>
      <p:sp>
        <p:nvSpPr>
          <p:cNvPr id="11" name="Rectangle 10"/>
          <p:cNvSpPr/>
          <p:nvPr/>
        </p:nvSpPr>
        <p:spPr>
          <a:xfrm>
            <a:off x="822960" y="2889504"/>
            <a:ext cx="5120640"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889504"/>
            <a:ext cx="82296" cy="78638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 y="3008376"/>
            <a:ext cx="4663440" cy="274320"/>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0F172A"/>
                </a:solidFill>
                <a:latin typeface="Segoe UI"/>
              </a:rPr>
              <a:t>Admin panel</a:t>
            </a:r>
          </a:p>
        </p:txBody>
      </p:sp>
      <p:sp>
        <p:nvSpPr>
          <p:cNvPr id="14" name="TextBox 13"/>
          <p:cNvSpPr txBox="1"/>
          <p:nvPr/>
        </p:nvSpPr>
        <p:spPr>
          <a:xfrm>
            <a:off x="1133856" y="3291840"/>
            <a:ext cx="4663440" cy="310896"/>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The web screen your office staff use for reports and workers.</a:t>
            </a:r>
          </a:p>
        </p:txBody>
      </p:sp>
      <p:sp>
        <p:nvSpPr>
          <p:cNvPr id="15" name="Rectangle 14"/>
          <p:cNvSpPr/>
          <p:nvPr/>
        </p:nvSpPr>
        <p:spPr>
          <a:xfrm>
            <a:off x="822960" y="3785616"/>
            <a:ext cx="5120640"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3785616"/>
            <a:ext cx="82296" cy="786384"/>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3856" y="3904488"/>
            <a:ext cx="4663440" cy="274320"/>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0F172A"/>
                </a:solidFill>
                <a:latin typeface="Segoe UI"/>
              </a:rPr>
              <a:t>PostgreSQL database</a:t>
            </a:r>
          </a:p>
        </p:txBody>
      </p:sp>
      <p:sp>
        <p:nvSpPr>
          <p:cNvPr id="18" name="TextBox 17"/>
          <p:cNvSpPr txBox="1"/>
          <p:nvPr/>
        </p:nvSpPr>
        <p:spPr>
          <a:xfrm>
            <a:off x="1133856" y="4187952"/>
            <a:ext cx="4663440" cy="310896"/>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The record book — workers, attendance, photos, audit trail.</a:t>
            </a:r>
          </a:p>
        </p:txBody>
      </p:sp>
      <p:sp>
        <p:nvSpPr>
          <p:cNvPr id="19" name="Rectangle 18"/>
          <p:cNvSpPr/>
          <p:nvPr/>
        </p:nvSpPr>
        <p:spPr>
          <a:xfrm>
            <a:off x="822960" y="4681728"/>
            <a:ext cx="5120640"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4681728"/>
            <a:ext cx="82296" cy="786384"/>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33856" y="4800600"/>
            <a:ext cx="4663440" cy="274320"/>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0F172A"/>
                </a:solidFill>
                <a:latin typeface="Segoe UI"/>
              </a:rPr>
              <a:t>Redis</a:t>
            </a:r>
          </a:p>
        </p:txBody>
      </p:sp>
      <p:sp>
        <p:nvSpPr>
          <p:cNvPr id="22" name="TextBox 21"/>
          <p:cNvSpPr txBox="1"/>
          <p:nvPr/>
        </p:nvSpPr>
        <p:spPr>
          <a:xfrm>
            <a:off x="1133856" y="5084064"/>
            <a:ext cx="4663440" cy="310896"/>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Short-term memory that keeps taps in the right order.</a:t>
            </a:r>
          </a:p>
        </p:txBody>
      </p:sp>
      <p:sp>
        <p:nvSpPr>
          <p:cNvPr id="23" name="TextBox 22"/>
          <p:cNvSpPr txBox="1"/>
          <p:nvPr/>
        </p:nvSpPr>
        <p:spPr>
          <a:xfrm>
            <a:off x="6355080" y="1572768"/>
            <a:ext cx="5029200" cy="365760"/>
          </a:xfrm>
          <a:prstGeom prst="rect">
            <a:avLst/>
          </a:prstGeom>
          <a:noFill/>
        </p:spPr>
        <p:txBody>
          <a:bodyPr wrap="square" anchor="t" lIns="0" rIns="0" tIns="0" bIns="0">
            <a:spAutoFit/>
          </a:bodyPr>
          <a:lstStyle/>
          <a:p>
            <a:pPr algn="l">
              <a:lnSpc>
                <a:spcPct val="100000"/>
              </a:lnSpc>
              <a:spcBef>
                <a:spcPts val="0"/>
              </a:spcBef>
              <a:spcAft>
                <a:spcPts val="600"/>
              </a:spcAft>
            </a:pPr>
            <a:r>
              <a:rPr sz="1150" b="1">
                <a:solidFill>
                  <a:srgbClr val="64748B"/>
                </a:solidFill>
                <a:latin typeface="Segoe UI"/>
              </a:rPr>
              <a:t>HOW BIG A SERVER?</a:t>
            </a:r>
          </a:p>
        </p:txBody>
      </p:sp>
      <p:sp>
        <p:nvSpPr>
          <p:cNvPr id="24" name="Rectangle 23"/>
          <p:cNvSpPr/>
          <p:nvPr/>
        </p:nvSpPr>
        <p:spPr>
          <a:xfrm>
            <a:off x="6355080" y="1993392"/>
            <a:ext cx="5029200" cy="10789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2130552"/>
            <a:ext cx="448056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a:solidFill>
                  <a:srgbClr val="64748B"/>
                </a:solidFill>
                <a:latin typeface="Segoe UI"/>
              </a:rPr>
              <a:t>MINIMUM</a:t>
            </a:r>
          </a:p>
        </p:txBody>
      </p:sp>
      <p:sp>
        <p:nvSpPr>
          <p:cNvPr id="26" name="TextBox 25"/>
          <p:cNvSpPr txBox="1"/>
          <p:nvPr/>
        </p:nvSpPr>
        <p:spPr>
          <a:xfrm>
            <a:off x="6629400" y="2404872"/>
            <a:ext cx="4480560" cy="310896"/>
          </a:xfrm>
          <a:prstGeom prst="rect">
            <a:avLst/>
          </a:prstGeom>
          <a:noFill/>
        </p:spPr>
        <p:txBody>
          <a:bodyPr wrap="square" anchor="t" lIns="0" rIns="0" tIns="0" bIns="0">
            <a:spAutoFit/>
          </a:bodyPr>
          <a:lstStyle/>
          <a:p>
            <a:pPr algn="l">
              <a:lnSpc>
                <a:spcPct val="100000"/>
              </a:lnSpc>
              <a:spcBef>
                <a:spcPts val="0"/>
              </a:spcBef>
              <a:spcAft>
                <a:spcPts val="600"/>
              </a:spcAft>
            </a:pPr>
            <a:r>
              <a:rPr sz="1500" b="1">
                <a:solidFill>
                  <a:srgbClr val="0F172A"/>
                </a:solidFill>
                <a:latin typeface="Segoe UI"/>
              </a:rPr>
              <a:t>2 vCPU · 8 GB RAM · 100 GB SSD</a:t>
            </a:r>
          </a:p>
        </p:txBody>
      </p:sp>
      <p:sp>
        <p:nvSpPr>
          <p:cNvPr id="27" name="TextBox 26"/>
          <p:cNvSpPr txBox="1"/>
          <p:nvPr/>
        </p:nvSpPr>
        <p:spPr>
          <a:xfrm>
            <a:off x="6629400" y="2724912"/>
            <a:ext cx="44805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About 2,000 workers, up to 10 sites</a:t>
            </a:r>
          </a:p>
        </p:txBody>
      </p:sp>
      <p:sp>
        <p:nvSpPr>
          <p:cNvPr id="28" name="Rectangle 27"/>
          <p:cNvSpPr/>
          <p:nvPr/>
        </p:nvSpPr>
        <p:spPr>
          <a:xfrm>
            <a:off x="6355080" y="3182112"/>
            <a:ext cx="5029200" cy="1078992"/>
          </a:xfrm>
          <a:prstGeom prst="rect">
            <a:avLst/>
          </a:prstGeom>
          <a:solidFill>
            <a:srgbClr val="FFF4DE"/>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3319272"/>
            <a:ext cx="448056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a:solidFill>
                  <a:srgbClr val="B45309"/>
                </a:solidFill>
                <a:latin typeface="Segoe UI"/>
              </a:rPr>
              <a:t>RECOMMENDED</a:t>
            </a:r>
          </a:p>
        </p:txBody>
      </p:sp>
      <p:sp>
        <p:nvSpPr>
          <p:cNvPr id="30" name="TextBox 29"/>
          <p:cNvSpPr txBox="1"/>
          <p:nvPr/>
        </p:nvSpPr>
        <p:spPr>
          <a:xfrm>
            <a:off x="6629400" y="3593592"/>
            <a:ext cx="4480560" cy="310896"/>
          </a:xfrm>
          <a:prstGeom prst="rect">
            <a:avLst/>
          </a:prstGeom>
          <a:noFill/>
        </p:spPr>
        <p:txBody>
          <a:bodyPr wrap="square" anchor="t" lIns="0" rIns="0" tIns="0" bIns="0">
            <a:spAutoFit/>
          </a:bodyPr>
          <a:lstStyle/>
          <a:p>
            <a:pPr algn="l">
              <a:lnSpc>
                <a:spcPct val="100000"/>
              </a:lnSpc>
              <a:spcBef>
                <a:spcPts val="0"/>
              </a:spcBef>
              <a:spcAft>
                <a:spcPts val="600"/>
              </a:spcAft>
            </a:pPr>
            <a:r>
              <a:rPr sz="1500" b="1">
                <a:solidFill>
                  <a:srgbClr val="0F172A"/>
                </a:solidFill>
                <a:latin typeface="Segoe UI"/>
              </a:rPr>
              <a:t>4 vCPU · 16 GB RAM · 200 GB SSD</a:t>
            </a:r>
          </a:p>
        </p:txBody>
      </p:sp>
      <p:sp>
        <p:nvSpPr>
          <p:cNvPr id="31" name="TextBox 30"/>
          <p:cNvSpPr txBox="1"/>
          <p:nvPr/>
        </p:nvSpPr>
        <p:spPr>
          <a:xfrm>
            <a:off x="6629400" y="3913632"/>
            <a:ext cx="44805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About 10,000 workers, up to 40 sites</a:t>
            </a:r>
          </a:p>
        </p:txBody>
      </p:sp>
      <p:sp>
        <p:nvSpPr>
          <p:cNvPr id="32" name="Rectangle 31"/>
          <p:cNvSpPr/>
          <p:nvPr/>
        </p:nvSpPr>
        <p:spPr>
          <a:xfrm>
            <a:off x="6355080" y="4370832"/>
            <a:ext cx="5029200" cy="10789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4507992"/>
            <a:ext cx="448056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a:solidFill>
                  <a:srgbClr val="64748B"/>
                </a:solidFill>
                <a:latin typeface="Segoe UI"/>
              </a:rPr>
              <a:t>LARGE / GROWING</a:t>
            </a:r>
          </a:p>
        </p:txBody>
      </p:sp>
      <p:sp>
        <p:nvSpPr>
          <p:cNvPr id="34" name="TextBox 33"/>
          <p:cNvSpPr txBox="1"/>
          <p:nvPr/>
        </p:nvSpPr>
        <p:spPr>
          <a:xfrm>
            <a:off x="6629400" y="4782312"/>
            <a:ext cx="4480560" cy="310896"/>
          </a:xfrm>
          <a:prstGeom prst="rect">
            <a:avLst/>
          </a:prstGeom>
          <a:noFill/>
        </p:spPr>
        <p:txBody>
          <a:bodyPr wrap="square" anchor="t" lIns="0" rIns="0" tIns="0" bIns="0">
            <a:spAutoFit/>
          </a:bodyPr>
          <a:lstStyle/>
          <a:p>
            <a:pPr algn="l">
              <a:lnSpc>
                <a:spcPct val="100000"/>
              </a:lnSpc>
              <a:spcBef>
                <a:spcPts val="0"/>
              </a:spcBef>
              <a:spcAft>
                <a:spcPts val="600"/>
              </a:spcAft>
            </a:pPr>
            <a:r>
              <a:rPr sz="1500" b="1">
                <a:solidFill>
                  <a:srgbClr val="0F172A"/>
                </a:solidFill>
                <a:latin typeface="Segoe UI"/>
              </a:rPr>
              <a:t>8 vCPU · 32 GB RAM · 400 GB SSD</a:t>
            </a:r>
          </a:p>
        </p:txBody>
      </p:sp>
      <p:sp>
        <p:nvSpPr>
          <p:cNvPr id="35" name="TextBox 34"/>
          <p:cNvSpPr txBox="1"/>
          <p:nvPr/>
        </p:nvSpPr>
        <p:spPr>
          <a:xfrm>
            <a:off x="6629400" y="5102352"/>
            <a:ext cx="44805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25,000+ workers, 100+ sites</a:t>
            </a:r>
          </a:p>
        </p:txBody>
      </p:sp>
      <p:sp>
        <p:nvSpPr>
          <p:cNvPr id="36" name="Rectangle 35"/>
          <p:cNvSpPr/>
          <p:nvPr/>
        </p:nvSpPr>
        <p:spPr>
          <a:xfrm>
            <a:off x="6355080" y="5596128"/>
            <a:ext cx="5029200" cy="7315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5596128"/>
            <a:ext cx="4480560" cy="731520"/>
          </a:xfrm>
          <a:prstGeom prst="rect">
            <a:avLst/>
          </a:prstGeom>
          <a:noFill/>
        </p:spPr>
        <p:txBody>
          <a:bodyPr wrap="square" anchor="ctr" lIns="0" rIns="0" tIns="0" bIns="0">
            <a:spAutoFit/>
          </a:bodyPr>
          <a:lstStyle/>
          <a:p>
            <a:pPr algn="l">
              <a:lnSpc>
                <a:spcPct val="120000"/>
              </a:lnSpc>
              <a:spcBef>
                <a:spcPts val="0"/>
              </a:spcBef>
              <a:spcAft>
                <a:spcPts val="600"/>
              </a:spcAft>
            </a:pPr>
            <a:r>
              <a:rPr sz="1150" b="1">
                <a:solidFill>
                  <a:srgbClr val="0F172A"/>
                </a:solidFill>
                <a:latin typeface="Segoe UI"/>
              </a:rPr>
              <a:t>Also needed:</a:t>
            </a:r>
            <a:r>
              <a:rPr sz="1150" b="0">
                <a:solidFill>
                  <a:srgbClr val="64748B"/>
                </a:solidFill>
                <a:latin typeface="Segoe UI"/>
              </a:rPr>
              <a:t>  Ubuntu Linux, a domain name (e.g. clams.yourcompany.com), free HTTPS certificate, and a daily backup.</a:t>
            </a:r>
          </a:p>
        </p:txBody>
      </p:sp>
      <p:sp>
        <p:nvSpPr>
          <p:cNvPr id="38" name="TextBox 37"/>
          <p:cNvSpPr txBox="1"/>
          <p:nvPr/>
        </p:nvSpPr>
        <p:spPr>
          <a:xfrm>
            <a:off x="822960" y="5715000"/>
            <a:ext cx="5120640" cy="640080"/>
          </a:xfrm>
          <a:prstGeom prst="rect">
            <a:avLst/>
          </a:prstGeom>
          <a:noFill/>
        </p:spPr>
        <p:txBody>
          <a:bodyPr wrap="square" anchor="t" lIns="0" rIns="0" tIns="0" bIns="0">
            <a:spAutoFit/>
          </a:bodyPr>
          <a:lstStyle/>
          <a:p>
            <a:pPr algn="l">
              <a:lnSpc>
                <a:spcPct val="120000"/>
              </a:lnSpc>
              <a:spcBef>
                <a:spcPts val="0"/>
              </a:spcBef>
              <a:spcAft>
                <a:spcPts val="600"/>
              </a:spcAft>
            </a:pPr>
            <a:r>
              <a:rPr sz="1150" b="1">
                <a:solidFill>
                  <a:srgbClr val="0F172A"/>
                </a:solidFill>
                <a:latin typeface="Segoe UI"/>
              </a:rPr>
              <a:t>Why storage stays small:</a:t>
            </a:r>
            <a:r>
              <a:rPr sz="1150" b="0">
                <a:solidFill>
                  <a:srgbClr val="64748B"/>
                </a:solidFill>
                <a:latin typeface="Segoe UI"/>
              </a:rPr>
              <a:t>  each worker uses about 0.5 MB of photos. 10,000 workers with three years of attendance fits in roughly 20 GB.</a:t>
            </a:r>
          </a:p>
        </p:txBody>
      </p:sp>
      <p:sp>
        <p:nvSpPr>
          <p:cNvPr id="39" name="TextBox 38"/>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40" name="TextBox 39"/>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PLEASE READ THIS FIRST</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0F172A"/>
                </a:solidFill>
                <a:latin typeface="Cambria"/>
              </a:rPr>
              <a:t>How we worked out the prices</a:t>
            </a:r>
          </a:p>
        </p:txBody>
      </p:sp>
      <p:sp>
        <p:nvSpPr>
          <p:cNvPr id="6" name="Rectangle 5"/>
          <p:cNvSpPr/>
          <p:nvPr/>
        </p:nvSpPr>
        <p:spPr>
          <a:xfrm>
            <a:off x="822960" y="1645920"/>
            <a:ext cx="5166360" cy="2084831"/>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45920"/>
            <a:ext cx="82296" cy="208483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33856" y="1847088"/>
            <a:ext cx="4617720" cy="3657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0F172A"/>
                </a:solidFill>
                <a:latin typeface="Cambria"/>
              </a:rPr>
              <a:t>GST is already added</a:t>
            </a:r>
          </a:p>
        </p:txBody>
      </p:sp>
      <p:sp>
        <p:nvSpPr>
          <p:cNvPr id="9" name="TextBox 8"/>
          <p:cNvSpPr txBox="1"/>
          <p:nvPr/>
        </p:nvSpPr>
        <p:spPr>
          <a:xfrm>
            <a:off x="1133856" y="2304288"/>
            <a:ext cx="4581144" cy="1261871"/>
          </a:xfrm>
          <a:prstGeom prst="rect">
            <a:avLst/>
          </a:prstGeom>
          <a:noFill/>
        </p:spPr>
        <p:txBody>
          <a:bodyPr wrap="square" anchor="t" lIns="0" rIns="0" tIns="0" bIns="0">
            <a:spAutoFit/>
          </a:bodyPr>
          <a:lstStyle/>
          <a:p>
            <a:pPr algn="l" marL="146304" indent="-146304">
              <a:lnSpc>
                <a:spcPct val="110000"/>
              </a:lnSpc>
              <a:spcBef>
                <a:spcPts val="0"/>
              </a:spcBef>
              <a:spcAft>
                <a:spcPts val="700"/>
              </a:spcAft>
            </a:pPr>
            <a:r>
              <a:rPr sz="1200" b="1">
                <a:solidFill>
                  <a:srgbClr val="F59E0B"/>
                </a:solidFill>
                <a:latin typeface="Segoe UI"/>
              </a:rPr>
              <a:t>•  </a:t>
            </a:r>
            <a:r>
              <a:rPr sz="1200" b="0">
                <a:solidFill>
                  <a:srgbClr val="0F172A"/>
                </a:solidFill>
                <a:latin typeface="Segoe UI"/>
              </a:rPr>
              <a:t>Every rupee figure in this deck includes 18% GST.</a:t>
            </a:r>
          </a:p>
          <a:p>
            <a:pPr algn="l" marL="146304" indent="-146304">
              <a:lnSpc>
                <a:spcPct val="110000"/>
              </a:lnSpc>
              <a:spcBef>
                <a:spcPts val="0"/>
              </a:spcBef>
              <a:spcAft>
                <a:spcPts val="700"/>
              </a:spcAft>
            </a:pPr>
            <a:r>
              <a:rPr sz="1200" b="1">
                <a:solidFill>
                  <a:srgbClr val="F59E0B"/>
                </a:solidFill>
                <a:latin typeface="Segoe UI"/>
              </a:rPr>
              <a:t>•  </a:t>
            </a:r>
            <a:r>
              <a:rPr sz="1200" b="0">
                <a:solidFill>
                  <a:srgbClr val="0F172A"/>
                </a:solidFill>
                <a:latin typeface="Segoe UI"/>
              </a:rPr>
              <a:t>If your company is GST-registered you can normally claim this 18% back as input tax credit — please confirm with your accountant.</a:t>
            </a:r>
          </a:p>
          <a:p>
            <a:pPr algn="l" marL="146304" indent="-146304">
              <a:lnSpc>
                <a:spcPct val="110000"/>
              </a:lnSpc>
              <a:spcBef>
                <a:spcPts val="0"/>
              </a:spcBef>
              <a:spcAft>
                <a:spcPts val="700"/>
              </a:spcAft>
            </a:pPr>
            <a:r>
              <a:rPr sz="1200" b="1">
                <a:solidFill>
                  <a:srgbClr val="F59E0B"/>
                </a:solidFill>
                <a:latin typeface="Segoe UI"/>
              </a:rPr>
              <a:t>•  </a:t>
            </a:r>
            <a:r>
              <a:rPr sz="1200" b="0">
                <a:solidFill>
                  <a:srgbClr val="0F172A"/>
                </a:solidFill>
                <a:latin typeface="Segoe UI"/>
              </a:rPr>
              <a:t>Indian sellers add GST on the bill. Foreign sellers (Hetzner) leave it to you to pay under reverse charge.</a:t>
            </a:r>
          </a:p>
        </p:txBody>
      </p:sp>
      <p:sp>
        <p:nvSpPr>
          <p:cNvPr id="10" name="Rectangle 9"/>
          <p:cNvSpPr/>
          <p:nvPr/>
        </p:nvSpPr>
        <p:spPr>
          <a:xfrm>
            <a:off x="6263640" y="1645920"/>
            <a:ext cx="5166360" cy="2084831"/>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645920"/>
            <a:ext cx="82296" cy="208483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1847088"/>
            <a:ext cx="4617720" cy="3657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0F172A"/>
                </a:solidFill>
                <a:latin typeface="Cambria"/>
              </a:rPr>
              <a:t>What the price covers</a:t>
            </a:r>
          </a:p>
        </p:txBody>
      </p:sp>
      <p:sp>
        <p:nvSpPr>
          <p:cNvPr id="13" name="TextBox 12"/>
          <p:cNvSpPr txBox="1"/>
          <p:nvPr/>
        </p:nvSpPr>
        <p:spPr>
          <a:xfrm>
            <a:off x="6574536" y="2304288"/>
            <a:ext cx="4581144" cy="1261871"/>
          </a:xfrm>
          <a:prstGeom prst="rect">
            <a:avLst/>
          </a:prstGeom>
          <a:noFill/>
        </p:spPr>
        <p:txBody>
          <a:bodyPr wrap="square" anchor="t" lIns="0" rIns="0" tIns="0" bIns="0">
            <a:spAutoFit/>
          </a:bodyPr>
          <a:lstStyle/>
          <a:p>
            <a:pPr algn="l" marL="146304" indent="-146304">
              <a:lnSpc>
                <a:spcPct val="110000"/>
              </a:lnSpc>
              <a:spcBef>
                <a:spcPts val="0"/>
              </a:spcBef>
              <a:spcAft>
                <a:spcPts val="700"/>
              </a:spcAft>
            </a:pPr>
            <a:r>
              <a:rPr sz="1200" b="1">
                <a:solidFill>
                  <a:srgbClr val="2563EB"/>
                </a:solidFill>
                <a:latin typeface="Segoe UI"/>
              </a:rPr>
              <a:t>•  </a:t>
            </a:r>
            <a:r>
              <a:rPr sz="1200" b="0">
                <a:solidFill>
                  <a:srgbClr val="0F172A"/>
                </a:solidFill>
                <a:latin typeface="Segoe UI"/>
              </a:rPr>
              <a:t>The server itself: processor, memory, disk and the included data transfer.</a:t>
            </a:r>
          </a:p>
          <a:p>
            <a:pPr algn="l" marL="146304" indent="-146304">
              <a:lnSpc>
                <a:spcPct val="110000"/>
              </a:lnSpc>
              <a:spcBef>
                <a:spcPts val="0"/>
              </a:spcBef>
              <a:spcAft>
                <a:spcPts val="700"/>
              </a:spcAft>
            </a:pPr>
            <a:r>
              <a:rPr sz="1200" b="1">
                <a:solidFill>
                  <a:srgbClr val="2563EB"/>
                </a:solidFill>
                <a:latin typeface="Segoe UI"/>
              </a:rPr>
              <a:t>•  </a:t>
            </a:r>
            <a:r>
              <a:rPr sz="1200" b="0">
                <a:solidFill>
                  <a:srgbClr val="0F172A"/>
                </a:solidFill>
                <a:latin typeface="Segoe UI"/>
              </a:rPr>
              <a:t>It does NOT include a domain name, paid backups, or anyone's time to look after it.</a:t>
            </a:r>
          </a:p>
          <a:p>
            <a:pPr algn="l" marL="146304" indent="-146304">
              <a:lnSpc>
                <a:spcPct val="110000"/>
              </a:lnSpc>
              <a:spcBef>
                <a:spcPts val="0"/>
              </a:spcBef>
              <a:spcAft>
                <a:spcPts val="700"/>
              </a:spcAft>
            </a:pPr>
            <a:r>
              <a:rPr sz="1200" b="1">
                <a:solidFill>
                  <a:srgbClr val="2563EB"/>
                </a:solidFill>
                <a:latin typeface="Segoe UI"/>
              </a:rPr>
              <a:t>•  </a:t>
            </a:r>
            <a:r>
              <a:rPr sz="1200" b="0">
                <a:solidFill>
                  <a:srgbClr val="0F172A"/>
                </a:solidFill>
                <a:latin typeface="Segoe UI"/>
              </a:rPr>
              <a:t>Those extra costs are listed on a later slide so nothing is hidden.</a:t>
            </a:r>
          </a:p>
        </p:txBody>
      </p:sp>
      <p:sp>
        <p:nvSpPr>
          <p:cNvPr id="14" name="Rectangle 13"/>
          <p:cNvSpPr/>
          <p:nvPr/>
        </p:nvSpPr>
        <p:spPr>
          <a:xfrm>
            <a:off x="822960" y="4005071"/>
            <a:ext cx="5166360" cy="2084831"/>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005071"/>
            <a:ext cx="82296" cy="2084831"/>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33856" y="4206239"/>
            <a:ext cx="4617720" cy="3657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0F172A"/>
                </a:solidFill>
                <a:latin typeface="Cambria"/>
              </a:rPr>
              <a:t>Foreign currency</a:t>
            </a:r>
          </a:p>
        </p:txBody>
      </p:sp>
      <p:sp>
        <p:nvSpPr>
          <p:cNvPr id="17" name="TextBox 16"/>
          <p:cNvSpPr txBox="1"/>
          <p:nvPr/>
        </p:nvSpPr>
        <p:spPr>
          <a:xfrm>
            <a:off x="1133856" y="4663439"/>
            <a:ext cx="4581144" cy="1261871"/>
          </a:xfrm>
          <a:prstGeom prst="rect">
            <a:avLst/>
          </a:prstGeom>
          <a:noFill/>
        </p:spPr>
        <p:txBody>
          <a:bodyPr wrap="square" anchor="t" lIns="0" rIns="0" tIns="0" bIns="0">
            <a:spAutoFit/>
          </a:bodyPr>
          <a:lstStyle/>
          <a:p>
            <a:pPr algn="l" marL="146304" indent="-146304">
              <a:lnSpc>
                <a:spcPct val="110000"/>
              </a:lnSpc>
              <a:spcBef>
                <a:spcPts val="0"/>
              </a:spcBef>
              <a:spcAft>
                <a:spcPts val="700"/>
              </a:spcAft>
            </a:pPr>
            <a:r>
              <a:rPr sz="1200" b="1">
                <a:solidFill>
                  <a:srgbClr val="0E9488"/>
                </a:solidFill>
                <a:latin typeface="Segoe UI"/>
              </a:rPr>
              <a:t>•  </a:t>
            </a:r>
            <a:r>
              <a:rPr sz="1200" b="0">
                <a:solidFill>
                  <a:srgbClr val="0F172A"/>
                </a:solidFill>
                <a:latin typeface="Segoe UI"/>
              </a:rPr>
              <a:t>Converted on 10 Aug 2026 at 1 USD = Rs. 95.35 and 1 EUR = Rs. 110.20.</a:t>
            </a:r>
          </a:p>
          <a:p>
            <a:pPr algn="l" marL="146304" indent="-146304">
              <a:lnSpc>
                <a:spcPct val="110000"/>
              </a:lnSpc>
              <a:spcBef>
                <a:spcPts val="0"/>
              </a:spcBef>
              <a:spcAft>
                <a:spcPts val="700"/>
              </a:spcAft>
            </a:pPr>
            <a:r>
              <a:rPr sz="1200" b="1">
                <a:solidFill>
                  <a:srgbClr val="0E9488"/>
                </a:solidFill>
                <a:latin typeface="Segoe UI"/>
              </a:rPr>
              <a:t>•  </a:t>
            </a:r>
            <a:r>
              <a:rPr sz="1200" b="0">
                <a:solidFill>
                  <a:srgbClr val="0F172A"/>
                </a:solidFill>
                <a:latin typeface="Segoe UI"/>
              </a:rPr>
              <a:t>Your bank usually adds 2-3% on foreign card payments.</a:t>
            </a:r>
          </a:p>
          <a:p>
            <a:pPr algn="l" marL="146304" indent="-146304">
              <a:lnSpc>
                <a:spcPct val="110000"/>
              </a:lnSpc>
              <a:spcBef>
                <a:spcPts val="0"/>
              </a:spcBef>
              <a:spcAft>
                <a:spcPts val="700"/>
              </a:spcAft>
            </a:pPr>
            <a:r>
              <a:rPr sz="1200" b="1">
                <a:solidFill>
                  <a:srgbClr val="0E9488"/>
                </a:solidFill>
                <a:latin typeface="Segoe UI"/>
              </a:rPr>
              <a:t>•  </a:t>
            </a:r>
            <a:r>
              <a:rPr sz="1200" b="0">
                <a:solidFill>
                  <a:srgbClr val="0F172A"/>
                </a:solidFill>
                <a:latin typeface="Segoe UI"/>
              </a:rPr>
              <a:t>So dollar-priced servers can move a little every month.</a:t>
            </a:r>
          </a:p>
        </p:txBody>
      </p:sp>
      <p:sp>
        <p:nvSpPr>
          <p:cNvPr id="18" name="Rectangle 17"/>
          <p:cNvSpPr/>
          <p:nvPr/>
        </p:nvSpPr>
        <p:spPr>
          <a:xfrm>
            <a:off x="6263640" y="4005071"/>
            <a:ext cx="5166360" cy="2084831"/>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4005071"/>
            <a:ext cx="82296" cy="2084831"/>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74536" y="4206239"/>
            <a:ext cx="4617720" cy="3657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0F172A"/>
                </a:solidFill>
                <a:latin typeface="Cambria"/>
              </a:rPr>
              <a:t>Prices can change</a:t>
            </a:r>
          </a:p>
        </p:txBody>
      </p:sp>
      <p:sp>
        <p:nvSpPr>
          <p:cNvPr id="21" name="TextBox 20"/>
          <p:cNvSpPr txBox="1"/>
          <p:nvPr/>
        </p:nvSpPr>
        <p:spPr>
          <a:xfrm>
            <a:off x="6574536" y="4663439"/>
            <a:ext cx="4581144" cy="1261871"/>
          </a:xfrm>
          <a:prstGeom prst="rect">
            <a:avLst/>
          </a:prstGeom>
          <a:noFill/>
        </p:spPr>
        <p:txBody>
          <a:bodyPr wrap="square" anchor="t" lIns="0" rIns="0" tIns="0" bIns="0">
            <a:spAutoFit/>
          </a:bodyPr>
          <a:lstStyle/>
          <a:p>
            <a:pPr algn="l" marL="146304" indent="-146304">
              <a:lnSpc>
                <a:spcPct val="110000"/>
              </a:lnSpc>
              <a:spcBef>
                <a:spcPts val="0"/>
              </a:spcBef>
              <a:spcAft>
                <a:spcPts val="700"/>
              </a:spcAft>
            </a:pPr>
            <a:r>
              <a:rPr sz="1200" b="1">
                <a:solidFill>
                  <a:srgbClr val="714BD1"/>
                </a:solidFill>
                <a:latin typeface="Segoe UI"/>
              </a:rPr>
              <a:t>•  </a:t>
            </a:r>
            <a:r>
              <a:rPr sz="1200" b="0">
                <a:solidFill>
                  <a:srgbClr val="0F172A"/>
                </a:solidFill>
                <a:latin typeface="Segoe UI"/>
              </a:rPr>
              <a:t>These are the published prices on 10 August 2026.</a:t>
            </a:r>
          </a:p>
          <a:p>
            <a:pPr algn="l" marL="146304" indent="-146304">
              <a:lnSpc>
                <a:spcPct val="110000"/>
              </a:lnSpc>
              <a:spcBef>
                <a:spcPts val="0"/>
              </a:spcBef>
              <a:spcAft>
                <a:spcPts val="700"/>
              </a:spcAft>
            </a:pPr>
            <a:r>
              <a:rPr sz="1200" b="1">
                <a:solidFill>
                  <a:srgbClr val="714BD1"/>
                </a:solidFill>
                <a:latin typeface="Segoe UI"/>
              </a:rPr>
              <a:t>•  </a:t>
            </a:r>
            <a:r>
              <a:rPr sz="1200" b="0">
                <a:solidFill>
                  <a:srgbClr val="0F172A"/>
                </a:solidFill>
                <a:latin typeface="Segoe UI"/>
              </a:rPr>
              <a:t>Cloud prices do move — Hetzner raised prices twice in 2026.</a:t>
            </a:r>
          </a:p>
          <a:p>
            <a:pPr algn="l" marL="146304" indent="-146304">
              <a:lnSpc>
                <a:spcPct val="110000"/>
              </a:lnSpc>
              <a:spcBef>
                <a:spcPts val="0"/>
              </a:spcBef>
              <a:spcAft>
                <a:spcPts val="700"/>
              </a:spcAft>
            </a:pPr>
            <a:r>
              <a:rPr sz="1200" b="1">
                <a:solidFill>
                  <a:srgbClr val="714BD1"/>
                </a:solidFill>
                <a:latin typeface="Segoe UI"/>
              </a:rPr>
              <a:t>•  </a:t>
            </a:r>
            <a:r>
              <a:rPr sz="1200" b="0">
                <a:solidFill>
                  <a:srgbClr val="0F172A"/>
                </a:solidFill>
                <a:latin typeface="Segoe UI"/>
              </a:rPr>
              <a:t>We will re-check the final number before you pay.</a:t>
            </a:r>
          </a:p>
        </p:txBody>
      </p:sp>
      <p:sp>
        <p:nvSpPr>
          <p:cNvPr id="22" name="TextBox 21"/>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23" name="TextBox 22"/>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ALL OPTIONS SIDE BY SIDE</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200" b="1">
                <a:solidFill>
                  <a:srgbClr val="0F172A"/>
                </a:solidFill>
                <a:latin typeface="Cambria"/>
              </a:rPr>
              <a:t>The full comparison</a:t>
            </a:r>
          </a:p>
        </p:txBody>
      </p:sp>
      <p:sp>
        <p:nvSpPr>
          <p:cNvPr id="6" name="TextBox 5"/>
          <p:cNvSpPr txBox="1"/>
          <p:nvPr/>
        </p:nvSpPr>
        <p:spPr>
          <a:xfrm>
            <a:off x="822960" y="1444752"/>
            <a:ext cx="10607040" cy="310896"/>
          </a:xfrm>
          <a:prstGeom prst="rect">
            <a:avLst/>
          </a:prstGeom>
          <a:noFill/>
        </p:spPr>
        <p:txBody>
          <a:bodyPr wrap="square" anchor="t" lIns="0" rIns="0" tIns="0" bIns="0">
            <a:spAutoFit/>
          </a:bodyPr>
          <a:lstStyle/>
          <a:p>
            <a:pPr algn="l">
              <a:lnSpc>
                <a:spcPct val="100000"/>
              </a:lnSpc>
              <a:spcBef>
                <a:spcPts val="0"/>
              </a:spcBef>
              <a:spcAft>
                <a:spcPts val="600"/>
              </a:spcAft>
            </a:pPr>
            <a:r>
              <a:rPr sz="1200" b="0">
                <a:solidFill>
                  <a:srgbClr val="64748B"/>
                </a:solidFill>
                <a:latin typeface="Segoe UI"/>
              </a:rPr>
              <a:t>Best-fit plan from each provider. Sorted cheapest first. All rupee prices are per month and include 18% GST.</a:t>
            </a:r>
          </a:p>
        </p:txBody>
      </p:sp>
      <p:graphicFrame>
        <p:nvGraphicFramePr>
          <p:cNvPr id="7" name="Table 6"/>
          <p:cNvGraphicFramePr>
            <a:graphicFrameLocks noGrp="1"/>
          </p:cNvGraphicFramePr>
          <p:nvPr/>
        </p:nvGraphicFramePr>
        <p:xfrm>
          <a:off x="822960" y="1783080"/>
          <a:ext cx="10351008" cy="3803904"/>
        </p:xfrm>
        <a:graphic>
          <a:graphicData uri="http://schemas.openxmlformats.org/drawingml/2006/table">
            <a:tbl>
              <a:tblPr/>
              <a:tblGrid>
                <a:gridCol w="2697480"/>
                <a:gridCol w="1691640"/>
                <a:gridCol w="658368"/>
                <a:gridCol w="777240"/>
                <a:gridCol w="1417320"/>
                <a:gridCol w="1417320"/>
                <a:gridCol w="1691640"/>
              </a:tblGrid>
              <a:tr h="512064">
                <a:tc>
                  <a:txBody>
                    <a:bodyPr wrap="square"/>
                    <a:lstStyle/>
                    <a:p>
                      <a:pPr algn="l">
                        <a:lnSpc>
                          <a:spcPct val="95000"/>
                        </a:lnSpc>
                      </a:pPr>
                      <a:r>
                        <a:rPr sz="1150" b="1">
                          <a:solidFill>
                            <a:srgbClr val="FFFFFF"/>
                          </a:solidFill>
                          <a:latin typeface="Segoe UI"/>
                        </a:rPr>
                        <a:t>Provider and plan</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Where the data sits</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vCPU</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RAM</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Storage</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Rs. / month
(incl. GST)</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Comfortable for</a:t>
                      </a:r>
                    </a:p>
                  </a:txBody>
                  <a:tcPr anchor="ctr" marL="100584" marR="64008" marT="18288" marB="18288">
                    <a:solidFill>
                      <a:srgbClr val="10214A"/>
                    </a:solidFill>
                  </a:tcPr>
                </a:tc>
              </a:tr>
              <a:tr h="365760">
                <a:tc>
                  <a:txBody>
                    <a:bodyPr wrap="square"/>
                    <a:lstStyle/>
                    <a:p>
                      <a:pPr algn="l">
                        <a:lnSpc>
                          <a:spcPct val="95000"/>
                        </a:lnSpc>
                      </a:pPr>
                      <a:r>
                        <a:rPr sz="1150" b="1">
                          <a:solidFill>
                            <a:srgbClr val="0F172A"/>
                          </a:solidFill>
                          <a:latin typeface="Segoe UI"/>
                        </a:rPr>
                        <a:t>Hostinger  VPS KVM 4</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Mumbai, India</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16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200 GB NVMe</a:t>
                      </a:r>
                    </a:p>
                  </a:txBody>
                  <a:tcPr anchor="ctr" marL="100584" marR="64008" marT="18288" marB="18288">
                    <a:solidFill>
                      <a:srgbClr val="FFFFFF"/>
                    </a:solidFill>
                  </a:tcPr>
                </a:tc>
                <a:tc>
                  <a:txBody>
                    <a:bodyPr wrap="square"/>
                    <a:lstStyle/>
                    <a:p>
                      <a:pPr algn="ctr">
                        <a:lnSpc>
                          <a:spcPct val="95000"/>
                        </a:lnSpc>
                      </a:pPr>
                      <a:r>
                        <a:rPr sz="1250" b="1">
                          <a:solidFill>
                            <a:srgbClr val="B45309"/>
                          </a:solidFill>
                          <a:latin typeface="Segoe UI"/>
                        </a:rPr>
                        <a:t>1,297 *</a:t>
                      </a:r>
                    </a:p>
                  </a:txBody>
                  <a:tcPr anchor="ctr" marL="100584" marR="64008" marT="18288" marB="18288">
                    <a:solidFill>
                      <a:srgbClr val="FFFFFF"/>
                    </a:solidFill>
                  </a:tcPr>
                </a:tc>
                <a:tc>
                  <a:txBody>
                    <a:bodyPr wrap="square"/>
                    <a:lstStyle/>
                    <a:p>
                      <a:pPr algn="ctr">
                        <a:lnSpc>
                          <a:spcPct val="95000"/>
                        </a:lnSpc>
                      </a:pPr>
                      <a:r>
                        <a:rPr sz="1100" b="0">
                          <a:solidFill>
                            <a:srgbClr val="0F172A"/>
                          </a:solidFill>
                          <a:latin typeface="Segoe UI"/>
                        </a:rPr>
                        <a:t>10,000 workers</a:t>
                      </a:r>
                    </a:p>
                  </a:txBody>
                  <a:tcPr anchor="ctr" marL="100584" marR="64008" marT="18288" marB="18288">
                    <a:solidFill>
                      <a:srgbClr val="FFFFFF"/>
                    </a:solidFill>
                  </a:tcPr>
                </a:tc>
              </a:tr>
              <a:tr h="365760">
                <a:tc>
                  <a:txBody>
                    <a:bodyPr wrap="square"/>
                    <a:lstStyle/>
                    <a:p>
                      <a:pPr algn="l">
                        <a:lnSpc>
                          <a:spcPct val="95000"/>
                        </a:lnSpc>
                      </a:pPr>
                      <a:r>
                        <a:rPr sz="1150" b="1">
                          <a:solidFill>
                            <a:srgbClr val="0F172A"/>
                          </a:solidFill>
                          <a:latin typeface="Segoe UI"/>
                        </a:rPr>
                        <a:t>Hetzner  CX43</a:t>
                      </a:r>
                    </a:p>
                  </a:txBody>
                  <a:tcPr anchor="ctr" marL="100584" marR="64008" marT="18288" marB="18288">
                    <a:solidFill>
                      <a:srgbClr val="F1F5F9"/>
                    </a:solidFill>
                  </a:tcPr>
                </a:tc>
                <a:tc>
                  <a:txBody>
                    <a:bodyPr wrap="square"/>
                    <a:lstStyle/>
                    <a:p>
                      <a:pPr algn="ctr">
                        <a:lnSpc>
                          <a:spcPct val="95000"/>
                        </a:lnSpc>
                      </a:pPr>
                      <a:r>
                        <a:rPr sz="1150" b="0">
                          <a:solidFill>
                            <a:srgbClr val="DC2626"/>
                          </a:solidFill>
                          <a:latin typeface="Segoe UI"/>
                        </a:rPr>
                        <a:t>Germany / Finland</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16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160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2,079</a:t>
                      </a:r>
                    </a:p>
                  </a:txBody>
                  <a:tcPr anchor="ctr" marL="100584" marR="64008" marT="18288" marB="18288">
                    <a:solidFill>
                      <a:srgbClr val="F1F5F9"/>
                    </a:solidFill>
                  </a:tcPr>
                </a:tc>
                <a:tc>
                  <a:txBody>
                    <a:bodyPr wrap="square"/>
                    <a:lstStyle/>
                    <a:p>
                      <a:pPr algn="ctr">
                        <a:lnSpc>
                          <a:spcPct val="95000"/>
                        </a:lnSpc>
                      </a:pPr>
                      <a:r>
                        <a:rPr sz="1100" b="0">
                          <a:solidFill>
                            <a:srgbClr val="0F172A"/>
                          </a:solidFill>
                          <a:latin typeface="Segoe UI"/>
                        </a:rPr>
                        <a:t>10,000 workers</a:t>
                      </a:r>
                    </a:p>
                  </a:txBody>
                  <a:tcPr anchor="ctr" marL="100584" marR="64008" marT="18288" marB="18288">
                    <a:solidFill>
                      <a:srgbClr val="F1F5F9"/>
                    </a:solidFill>
                  </a:tcPr>
                </a:tc>
              </a:tr>
              <a:tr h="365760">
                <a:tc>
                  <a:txBody>
                    <a:bodyPr wrap="square"/>
                    <a:lstStyle/>
                    <a:p>
                      <a:pPr algn="l">
                        <a:lnSpc>
                          <a:spcPct val="95000"/>
                        </a:lnSpc>
                      </a:pPr>
                      <a:r>
                        <a:rPr sz="1150" b="1">
                          <a:solidFill>
                            <a:srgbClr val="0F172A"/>
                          </a:solidFill>
                          <a:latin typeface="Segoe UI"/>
                        </a:rPr>
                        <a:t>DigitalOcean  Basic</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Bangalore, India</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160 GB SSD</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5,401</a:t>
                      </a:r>
                    </a:p>
                  </a:txBody>
                  <a:tcPr anchor="ctr" marL="100584" marR="64008" marT="18288" marB="18288">
                    <a:solidFill>
                      <a:srgbClr val="FFFFFF"/>
                    </a:solidFill>
                  </a:tcPr>
                </a:tc>
                <a:tc>
                  <a:txBody>
                    <a:bodyPr wrap="square"/>
                    <a:lstStyle/>
                    <a:p>
                      <a:pPr algn="ctr">
                        <a:lnSpc>
                          <a:spcPct val="95000"/>
                        </a:lnSpc>
                      </a:pPr>
                      <a:r>
                        <a:rPr sz="1100" b="0">
                          <a:solidFill>
                            <a:srgbClr val="0F172A"/>
                          </a:solidFill>
                          <a:latin typeface="Segoe UI"/>
                        </a:rPr>
                        <a:t>4,000 workers</a:t>
                      </a:r>
                    </a:p>
                  </a:txBody>
                  <a:tcPr anchor="ctr" marL="100584" marR="64008" marT="18288" marB="18288">
                    <a:solidFill>
                      <a:srgbClr val="FFFFFF"/>
                    </a:solidFill>
                  </a:tcPr>
                </a:tc>
              </a:tr>
              <a:tr h="365760">
                <a:tc>
                  <a:txBody>
                    <a:bodyPr wrap="square"/>
                    <a:lstStyle/>
                    <a:p>
                      <a:pPr algn="l">
                        <a:lnSpc>
                          <a:spcPct val="95000"/>
                        </a:lnSpc>
                      </a:pPr>
                      <a:r>
                        <a:rPr sz="1150" b="1">
                          <a:solidFill>
                            <a:srgbClr val="0F172A"/>
                          </a:solidFill>
                          <a:latin typeface="Segoe UI"/>
                        </a:rPr>
                        <a:t>Akamai (Linode)  8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Mumbai / Chennai</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160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5,401</a:t>
                      </a:r>
                    </a:p>
                  </a:txBody>
                  <a:tcPr anchor="ctr" marL="100584" marR="64008" marT="18288" marB="18288">
                    <a:solidFill>
                      <a:srgbClr val="F1F5F9"/>
                    </a:solidFill>
                  </a:tcPr>
                </a:tc>
                <a:tc>
                  <a:txBody>
                    <a:bodyPr wrap="square"/>
                    <a:lstStyle/>
                    <a:p>
                      <a:pPr algn="ctr">
                        <a:lnSpc>
                          <a:spcPct val="95000"/>
                        </a:lnSpc>
                      </a:pPr>
                      <a:r>
                        <a:rPr sz="1100" b="0">
                          <a:solidFill>
                            <a:srgbClr val="0F172A"/>
                          </a:solidFill>
                          <a:latin typeface="Segoe UI"/>
                        </a:rPr>
                        <a:t>4,000 workers</a:t>
                      </a:r>
                    </a:p>
                  </a:txBody>
                  <a:tcPr anchor="ctr" marL="100584" marR="64008" marT="18288" marB="18288">
                    <a:solidFill>
                      <a:srgbClr val="F1F5F9"/>
                    </a:solidFill>
                  </a:tcPr>
                </a:tc>
              </a:tr>
              <a:tr h="365760">
                <a:tc>
                  <a:txBody>
                    <a:bodyPr wrap="square"/>
                    <a:lstStyle/>
                    <a:p>
                      <a:pPr algn="l">
                        <a:lnSpc>
                          <a:spcPct val="95000"/>
                        </a:lnSpc>
                      </a:pPr>
                      <a:r>
                        <a:rPr sz="1150" b="1">
                          <a:solidFill>
                            <a:srgbClr val="0F172A"/>
                          </a:solidFill>
                          <a:latin typeface="Segoe UI"/>
                        </a:rPr>
                        <a:t>AWS Lightsail  16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Mumbai, India</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16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320 GB SSD</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9,451</a:t>
                      </a:r>
                    </a:p>
                  </a:txBody>
                  <a:tcPr anchor="ctr" marL="100584" marR="64008" marT="18288" marB="18288">
                    <a:solidFill>
                      <a:srgbClr val="FFFFFF"/>
                    </a:solidFill>
                  </a:tcPr>
                </a:tc>
                <a:tc>
                  <a:txBody>
                    <a:bodyPr wrap="square"/>
                    <a:lstStyle/>
                    <a:p>
                      <a:pPr algn="ctr">
                        <a:lnSpc>
                          <a:spcPct val="95000"/>
                        </a:lnSpc>
                      </a:pPr>
                      <a:r>
                        <a:rPr sz="1100" b="0">
                          <a:solidFill>
                            <a:srgbClr val="0F172A"/>
                          </a:solidFill>
                          <a:latin typeface="Segoe UI"/>
                        </a:rPr>
                        <a:t>10,000 workers</a:t>
                      </a:r>
                    </a:p>
                  </a:txBody>
                  <a:tcPr anchor="ctr" marL="100584" marR="64008" marT="18288" marB="18288">
                    <a:solidFill>
                      <a:srgbClr val="FFFFFF"/>
                    </a:solidFill>
                  </a:tcPr>
                </a:tc>
              </a:tr>
              <a:tr h="365760">
                <a:tc>
                  <a:txBody>
                    <a:bodyPr wrap="square"/>
                    <a:lstStyle/>
                    <a:p>
                      <a:pPr algn="l">
                        <a:lnSpc>
                          <a:spcPct val="95000"/>
                        </a:lnSpc>
                      </a:pPr>
                      <a:r>
                        <a:rPr sz="1150" b="1">
                          <a:solidFill>
                            <a:srgbClr val="0F172A"/>
                          </a:solidFill>
                          <a:latin typeface="Segoe UI"/>
                        </a:rPr>
                        <a:t>Google Cloud  e2-standard-4</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Mumbai, India</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16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200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15,922</a:t>
                      </a:r>
                    </a:p>
                  </a:txBody>
                  <a:tcPr anchor="ctr" marL="100584" marR="64008" marT="18288" marB="18288">
                    <a:solidFill>
                      <a:srgbClr val="F1F5F9"/>
                    </a:solidFill>
                  </a:tcPr>
                </a:tc>
                <a:tc>
                  <a:txBody>
                    <a:bodyPr wrap="square"/>
                    <a:lstStyle/>
                    <a:p>
                      <a:pPr algn="ctr">
                        <a:lnSpc>
                          <a:spcPct val="95000"/>
                        </a:lnSpc>
                      </a:pPr>
                      <a:r>
                        <a:rPr sz="1100" b="0">
                          <a:solidFill>
                            <a:srgbClr val="0F172A"/>
                          </a:solidFill>
                          <a:latin typeface="Segoe UI"/>
                        </a:rPr>
                        <a:t>10,000 workers</a:t>
                      </a:r>
                    </a:p>
                  </a:txBody>
                  <a:tcPr anchor="ctr" marL="100584" marR="64008" marT="18288" marB="18288">
                    <a:solidFill>
                      <a:srgbClr val="F1F5F9"/>
                    </a:solidFill>
                  </a:tcPr>
                </a:tc>
              </a:tr>
              <a:tr h="365760">
                <a:tc>
                  <a:txBody>
                    <a:bodyPr wrap="square"/>
                    <a:lstStyle/>
                    <a:p>
                      <a:pPr algn="l">
                        <a:lnSpc>
                          <a:spcPct val="95000"/>
                        </a:lnSpc>
                      </a:pPr>
                      <a:r>
                        <a:rPr sz="1150" b="1">
                          <a:solidFill>
                            <a:srgbClr val="0F172A"/>
                          </a:solidFill>
                          <a:latin typeface="Segoe UI"/>
                        </a:rPr>
                        <a:t>AWS EC2  t3.xlarge</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Mumbai, India</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16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200 GB SSD</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16,772</a:t>
                      </a:r>
                    </a:p>
                  </a:txBody>
                  <a:tcPr anchor="ctr" marL="100584" marR="64008" marT="18288" marB="18288">
                    <a:solidFill>
                      <a:srgbClr val="FFFFFF"/>
                    </a:solidFill>
                  </a:tcPr>
                </a:tc>
                <a:tc>
                  <a:txBody>
                    <a:bodyPr wrap="square"/>
                    <a:lstStyle/>
                    <a:p>
                      <a:pPr algn="ctr">
                        <a:lnSpc>
                          <a:spcPct val="95000"/>
                        </a:lnSpc>
                      </a:pPr>
                      <a:r>
                        <a:rPr sz="1100" b="0">
                          <a:solidFill>
                            <a:srgbClr val="0F172A"/>
                          </a:solidFill>
                          <a:latin typeface="Segoe UI"/>
                        </a:rPr>
                        <a:t>10,000 workers</a:t>
                      </a:r>
                    </a:p>
                  </a:txBody>
                  <a:tcPr anchor="ctr" marL="100584" marR="64008" marT="18288" marB="18288">
                    <a:solidFill>
                      <a:srgbClr val="FFFFFF"/>
                    </a:solidFill>
                  </a:tcPr>
                </a:tc>
              </a:tr>
              <a:tr h="365760">
                <a:tc>
                  <a:txBody>
                    <a:bodyPr wrap="square"/>
                    <a:lstStyle/>
                    <a:p>
                      <a:pPr algn="l">
                        <a:lnSpc>
                          <a:spcPct val="95000"/>
                        </a:lnSpc>
                      </a:pPr>
                      <a:r>
                        <a:rPr sz="1150" b="1">
                          <a:solidFill>
                            <a:srgbClr val="0F172A"/>
                          </a:solidFill>
                          <a:latin typeface="Segoe UI"/>
                        </a:rPr>
                        <a:t>Microsoft Azure  B4ms</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Pune, India</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16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256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16,907</a:t>
                      </a:r>
                    </a:p>
                  </a:txBody>
                  <a:tcPr anchor="ctr" marL="100584" marR="64008" marT="18288" marB="18288">
                    <a:solidFill>
                      <a:srgbClr val="F1F5F9"/>
                    </a:solidFill>
                  </a:tcPr>
                </a:tc>
                <a:tc>
                  <a:txBody>
                    <a:bodyPr wrap="square"/>
                    <a:lstStyle/>
                    <a:p>
                      <a:pPr algn="ctr">
                        <a:lnSpc>
                          <a:spcPct val="95000"/>
                        </a:lnSpc>
                      </a:pPr>
                      <a:r>
                        <a:rPr sz="1100" b="0">
                          <a:solidFill>
                            <a:srgbClr val="0F172A"/>
                          </a:solidFill>
                          <a:latin typeface="Segoe UI"/>
                        </a:rPr>
                        <a:t>10,000 workers</a:t>
                      </a:r>
                    </a:p>
                  </a:txBody>
                  <a:tcPr anchor="ctr" marL="100584" marR="64008" marT="18288" marB="18288">
                    <a:solidFill>
                      <a:srgbClr val="F1F5F9"/>
                    </a:solidFill>
                  </a:tcPr>
                </a:tc>
              </a:tr>
              <a:tr h="365760">
                <a:tc>
                  <a:txBody>
                    <a:bodyPr wrap="square"/>
                    <a:lstStyle/>
                    <a:p>
                      <a:pPr algn="l">
                        <a:lnSpc>
                          <a:spcPct val="95000"/>
                        </a:lnSpc>
                      </a:pPr>
                      <a:r>
                        <a:rPr sz="1150" b="1">
                          <a:solidFill>
                            <a:srgbClr val="0F172A"/>
                          </a:solidFill>
                          <a:latin typeface="Segoe UI"/>
                        </a:rPr>
                        <a:t>Your own server  (Dell T360)</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Your own office</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8 core</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32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 x 960 GB</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~7,000 **</a:t>
                      </a:r>
                    </a:p>
                  </a:txBody>
                  <a:tcPr anchor="ctr" marL="100584" marR="64008" marT="18288" marB="18288">
                    <a:solidFill>
                      <a:srgbClr val="FFFFFF"/>
                    </a:solidFill>
                  </a:tcPr>
                </a:tc>
                <a:tc>
                  <a:txBody>
                    <a:bodyPr wrap="square"/>
                    <a:lstStyle/>
                    <a:p>
                      <a:pPr algn="ctr">
                        <a:lnSpc>
                          <a:spcPct val="95000"/>
                        </a:lnSpc>
                      </a:pPr>
                      <a:r>
                        <a:rPr sz="1100" b="0">
                          <a:solidFill>
                            <a:srgbClr val="0F172A"/>
                          </a:solidFill>
                          <a:latin typeface="Segoe UI"/>
                        </a:rPr>
                        <a:t>25,000 workers</a:t>
                      </a:r>
                    </a:p>
                  </a:txBody>
                  <a:tcPr anchor="ctr" marL="100584" marR="64008" marT="18288" marB="18288">
                    <a:solidFill>
                      <a:srgbClr val="FFFFFF"/>
                    </a:solidFill>
                  </a:tcPr>
                </a:tc>
              </a:tr>
            </a:tbl>
          </a:graphicData>
        </a:graphic>
      </p:graphicFrame>
      <p:sp>
        <p:nvSpPr>
          <p:cNvPr id="8" name="TextBox 7"/>
          <p:cNvSpPr txBox="1"/>
          <p:nvPr/>
        </p:nvSpPr>
        <p:spPr>
          <a:xfrm>
            <a:off x="822960" y="5779008"/>
            <a:ext cx="10607040" cy="548640"/>
          </a:xfrm>
          <a:prstGeom prst="rect">
            <a:avLst/>
          </a:prstGeom>
          <a:noFill/>
        </p:spPr>
        <p:txBody>
          <a:bodyPr wrap="square" anchor="t" lIns="0" rIns="0" tIns="0" bIns="0">
            <a:spAutoFit/>
          </a:bodyPr>
          <a:lstStyle/>
          <a:p>
            <a:pPr algn="l">
              <a:lnSpc>
                <a:spcPct val="115000"/>
              </a:lnSpc>
              <a:spcBef>
                <a:spcPts val="0"/>
              </a:spcBef>
              <a:spcAft>
                <a:spcPts val="400"/>
              </a:spcAft>
            </a:pPr>
            <a:r>
              <a:rPr sz="1100" b="0">
                <a:solidFill>
                  <a:srgbClr val="64748B"/>
                </a:solidFill>
                <a:latin typeface="Segoe UI"/>
              </a:rPr>
              <a:t>*  Hostinger's Rs. 1,297 needs 2 years paid upfront; it renews at Rs. 2,831 a month.   **  Own server = Rs. 2.0-2.5 lakh once, spread over 5 years, plus running cost.</a:t>
            </a:r>
          </a:p>
          <a:p>
            <a:pPr algn="l">
              <a:lnSpc>
                <a:spcPct val="115000"/>
              </a:lnSpc>
              <a:spcBef>
                <a:spcPts val="0"/>
              </a:spcBef>
              <a:spcAft>
                <a:spcPts val="400"/>
              </a:spcAft>
            </a:pPr>
            <a:r>
              <a:rPr sz="1100" b="1">
                <a:solidFill>
                  <a:srgbClr val="DC2626"/>
                </a:solidFill>
                <a:latin typeface="Segoe UI"/>
              </a:rPr>
              <a:t>Hetzner has no data centre in India — see the data location slide before choosing it.</a:t>
            </a:r>
          </a:p>
        </p:txBody>
      </p:sp>
      <p:sp>
        <p:nvSpPr>
          <p:cNvPr id="9" name="TextBox 8"/>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10" name="TextBox 9"/>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IF YOU WANT TO START SMALLER</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200" b="1">
                <a:solidFill>
                  <a:srgbClr val="0F172A"/>
                </a:solidFill>
                <a:latin typeface="Cambria"/>
              </a:rPr>
              <a:t>The same providers, one size down</a:t>
            </a:r>
          </a:p>
        </p:txBody>
      </p:sp>
      <p:sp>
        <p:nvSpPr>
          <p:cNvPr id="6" name="TextBox 5"/>
          <p:cNvSpPr txBox="1"/>
          <p:nvPr/>
        </p:nvSpPr>
        <p:spPr>
          <a:xfrm>
            <a:off x="822960" y="1444752"/>
            <a:ext cx="10607040" cy="310896"/>
          </a:xfrm>
          <a:prstGeom prst="rect">
            <a:avLst/>
          </a:prstGeom>
          <a:noFill/>
        </p:spPr>
        <p:txBody>
          <a:bodyPr wrap="square" anchor="t" lIns="0" rIns="0" tIns="0" bIns="0">
            <a:spAutoFit/>
          </a:bodyPr>
          <a:lstStyle/>
          <a:p>
            <a:pPr algn="l">
              <a:lnSpc>
                <a:spcPct val="100000"/>
              </a:lnSpc>
              <a:spcBef>
                <a:spcPts val="0"/>
              </a:spcBef>
              <a:spcAft>
                <a:spcPts val="600"/>
              </a:spcAft>
            </a:pPr>
            <a:r>
              <a:rPr sz="1200" b="0">
                <a:solidFill>
                  <a:srgbClr val="64748B"/>
                </a:solidFill>
                <a:latin typeface="Segoe UI"/>
              </a:rPr>
              <a:t>2 vCPU and 8 GB RAM is enough for about 2,000 workers across 10 sites. Every option can be upgraded later without reinstalling CLAMS.</a:t>
            </a:r>
          </a:p>
        </p:txBody>
      </p:sp>
      <p:graphicFrame>
        <p:nvGraphicFramePr>
          <p:cNvPr id="7" name="Table 6"/>
          <p:cNvGraphicFramePr>
            <a:graphicFrameLocks noGrp="1"/>
          </p:cNvGraphicFramePr>
          <p:nvPr/>
        </p:nvGraphicFramePr>
        <p:xfrm>
          <a:off x="822960" y="1783080"/>
          <a:ext cx="10515600" cy="3584448"/>
        </p:xfrm>
        <a:graphic>
          <a:graphicData uri="http://schemas.openxmlformats.org/drawingml/2006/table">
            <a:tbl>
              <a:tblPr/>
              <a:tblGrid>
                <a:gridCol w="2880360"/>
                <a:gridCol w="731520"/>
                <a:gridCol w="868680"/>
                <a:gridCol w="1554480"/>
                <a:gridCol w="2148840"/>
                <a:gridCol w="2331720"/>
              </a:tblGrid>
              <a:tr h="512064">
                <a:tc>
                  <a:txBody>
                    <a:bodyPr wrap="square"/>
                    <a:lstStyle/>
                    <a:p>
                      <a:pPr algn="l">
                        <a:lnSpc>
                          <a:spcPct val="95000"/>
                        </a:lnSpc>
                      </a:pPr>
                      <a:r>
                        <a:rPr sz="1150" b="1">
                          <a:solidFill>
                            <a:srgbClr val="FFFFFF"/>
                          </a:solidFill>
                          <a:latin typeface="Segoe UI"/>
                        </a:rPr>
                        <a:t>Provider and plan</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vCPU</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RAM</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Storage</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Rs. / month (incl. GST)</a:t>
                      </a:r>
                    </a:p>
                  </a:txBody>
                  <a:tcPr anchor="ctr" marL="100584" marR="64008" marT="18288" marB="18288">
                    <a:solidFill>
                      <a:srgbClr val="10214A"/>
                    </a:solidFill>
                  </a:tcPr>
                </a:tc>
                <a:tc>
                  <a:txBody>
                    <a:bodyPr wrap="square"/>
                    <a:lstStyle/>
                    <a:p>
                      <a:pPr algn="ctr">
                        <a:lnSpc>
                          <a:spcPct val="95000"/>
                        </a:lnSpc>
                      </a:pPr>
                      <a:r>
                        <a:rPr sz="1150" b="1">
                          <a:solidFill>
                            <a:srgbClr val="FFFFFF"/>
                          </a:solidFill>
                          <a:latin typeface="Segoe UI"/>
                        </a:rPr>
                        <a:t>Notes</a:t>
                      </a:r>
                    </a:p>
                  </a:txBody>
                  <a:tcPr anchor="ctr" marL="100584" marR="64008" marT="18288" marB="18288">
                    <a:solidFill>
                      <a:srgbClr val="10214A"/>
                    </a:solidFill>
                  </a:tcPr>
                </a:tc>
              </a:tr>
              <a:tr h="384048">
                <a:tc>
                  <a:txBody>
                    <a:bodyPr wrap="square"/>
                    <a:lstStyle/>
                    <a:p>
                      <a:pPr algn="l">
                        <a:lnSpc>
                          <a:spcPct val="95000"/>
                        </a:lnSpc>
                      </a:pPr>
                      <a:r>
                        <a:rPr sz="1150" b="1">
                          <a:solidFill>
                            <a:srgbClr val="0F172A"/>
                          </a:solidFill>
                          <a:latin typeface="Segoe UI"/>
                        </a:rPr>
                        <a:t>Hostinger  VPS KVM 2</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100 GB NVMe</a:t>
                      </a:r>
                    </a:p>
                  </a:txBody>
                  <a:tcPr anchor="ctr" marL="100584" marR="64008" marT="18288" marB="18288">
                    <a:solidFill>
                      <a:srgbClr val="FFFFFF"/>
                    </a:solidFill>
                  </a:tcPr>
                </a:tc>
                <a:tc>
                  <a:txBody>
                    <a:bodyPr wrap="square"/>
                    <a:lstStyle/>
                    <a:p>
                      <a:pPr algn="ctr">
                        <a:lnSpc>
                          <a:spcPct val="95000"/>
                        </a:lnSpc>
                      </a:pPr>
                      <a:r>
                        <a:rPr sz="1250" b="1">
                          <a:solidFill>
                            <a:srgbClr val="B45309"/>
                          </a:solidFill>
                          <a:latin typeface="Segoe UI"/>
                        </a:rPr>
                        <a:t>919</a:t>
                      </a:r>
                    </a:p>
                  </a:txBody>
                  <a:tcPr anchor="ctr" marL="100584" marR="64008" marT="18288" marB="18288">
                    <a:solidFill>
                      <a:srgbClr val="FFFFFF"/>
                    </a:solidFill>
                  </a:tcPr>
                </a:tc>
                <a:tc>
                  <a:txBody>
                    <a:bodyPr wrap="square"/>
                    <a:lstStyle/>
                    <a:p>
                      <a:pPr algn="l">
                        <a:lnSpc>
                          <a:spcPct val="95000"/>
                        </a:lnSpc>
                      </a:pPr>
                      <a:r>
                        <a:rPr sz="1100" b="0">
                          <a:solidFill>
                            <a:srgbClr val="0F172A"/>
                          </a:solidFill>
                          <a:latin typeface="Segoe UI"/>
                        </a:rPr>
                        <a:t>Renews at Rs. 1,415</a:t>
                      </a:r>
                    </a:p>
                  </a:txBody>
                  <a:tcPr anchor="ctr" marL="100584" marR="64008" marT="18288" marB="18288">
                    <a:solidFill>
                      <a:srgbClr val="FFFFFF"/>
                    </a:solidFill>
                  </a:tcPr>
                </a:tc>
              </a:tr>
              <a:tr h="384048">
                <a:tc>
                  <a:txBody>
                    <a:bodyPr wrap="square"/>
                    <a:lstStyle/>
                    <a:p>
                      <a:pPr algn="l">
                        <a:lnSpc>
                          <a:spcPct val="95000"/>
                        </a:lnSpc>
                      </a:pPr>
                      <a:r>
                        <a:rPr sz="1150" b="1">
                          <a:solidFill>
                            <a:srgbClr val="0F172A"/>
                          </a:solidFill>
                          <a:latin typeface="Segoe UI"/>
                        </a:rPr>
                        <a:t>Hetzner  CX33</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4</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80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1,104</a:t>
                      </a:r>
                    </a:p>
                  </a:txBody>
                  <a:tcPr anchor="ctr" marL="100584" marR="64008" marT="18288" marB="18288">
                    <a:solidFill>
                      <a:srgbClr val="F1F5F9"/>
                    </a:solidFill>
                  </a:tcPr>
                </a:tc>
                <a:tc>
                  <a:txBody>
                    <a:bodyPr wrap="square"/>
                    <a:lstStyle/>
                    <a:p>
                      <a:pPr algn="l">
                        <a:lnSpc>
                          <a:spcPct val="95000"/>
                        </a:lnSpc>
                      </a:pPr>
                      <a:r>
                        <a:rPr sz="1100" b="0">
                          <a:solidFill>
                            <a:srgbClr val="0F172A"/>
                          </a:solidFill>
                          <a:latin typeface="Segoe UI"/>
                        </a:rPr>
                        <a:t>Not in India</a:t>
                      </a:r>
                    </a:p>
                  </a:txBody>
                  <a:tcPr anchor="ctr" marL="100584" marR="64008" marT="18288" marB="18288">
                    <a:solidFill>
                      <a:srgbClr val="F1F5F9"/>
                    </a:solidFill>
                  </a:tcPr>
                </a:tc>
              </a:tr>
              <a:tr h="384048">
                <a:tc>
                  <a:txBody>
                    <a:bodyPr wrap="square"/>
                    <a:lstStyle/>
                    <a:p>
                      <a:pPr algn="l">
                        <a:lnSpc>
                          <a:spcPct val="95000"/>
                        </a:lnSpc>
                      </a:pPr>
                      <a:r>
                        <a:rPr sz="1150" b="1">
                          <a:solidFill>
                            <a:srgbClr val="0F172A"/>
                          </a:solidFill>
                          <a:latin typeface="Segoe UI"/>
                        </a:rPr>
                        <a:t>DigitalOcean  Basic</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4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80 GB SSD</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2,700</a:t>
                      </a:r>
                    </a:p>
                  </a:txBody>
                  <a:tcPr anchor="ctr" marL="100584" marR="64008" marT="18288" marB="18288">
                    <a:solidFill>
                      <a:srgbClr val="FFFFFF"/>
                    </a:solidFill>
                  </a:tcPr>
                </a:tc>
                <a:tc>
                  <a:txBody>
                    <a:bodyPr wrap="square"/>
                    <a:lstStyle/>
                    <a:p>
                      <a:pPr algn="l">
                        <a:lnSpc>
                          <a:spcPct val="95000"/>
                        </a:lnSpc>
                      </a:pPr>
                      <a:r>
                        <a:rPr sz="1100" b="0">
                          <a:solidFill>
                            <a:srgbClr val="0F172A"/>
                          </a:solidFill>
                          <a:latin typeface="Segoe UI"/>
                        </a:rPr>
                        <a:t>4 GB is tight for reports</a:t>
                      </a:r>
                    </a:p>
                  </a:txBody>
                  <a:tcPr anchor="ctr" marL="100584" marR="64008" marT="18288" marB="18288">
                    <a:solidFill>
                      <a:srgbClr val="FFFFFF"/>
                    </a:solidFill>
                  </a:tcPr>
                </a:tc>
              </a:tr>
              <a:tr h="384048">
                <a:tc>
                  <a:txBody>
                    <a:bodyPr wrap="square"/>
                    <a:lstStyle/>
                    <a:p>
                      <a:pPr algn="l">
                        <a:lnSpc>
                          <a:spcPct val="95000"/>
                        </a:lnSpc>
                      </a:pPr>
                      <a:r>
                        <a:rPr sz="1150" b="1">
                          <a:solidFill>
                            <a:srgbClr val="0F172A"/>
                          </a:solidFill>
                          <a:latin typeface="Segoe UI"/>
                        </a:rPr>
                        <a:t>Akamai (Linode)  4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4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80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2,700</a:t>
                      </a:r>
                    </a:p>
                  </a:txBody>
                  <a:tcPr anchor="ctr" marL="100584" marR="64008" marT="18288" marB="18288">
                    <a:solidFill>
                      <a:srgbClr val="F1F5F9"/>
                    </a:solidFill>
                  </a:tcPr>
                </a:tc>
                <a:tc>
                  <a:txBody>
                    <a:bodyPr wrap="square"/>
                    <a:lstStyle/>
                    <a:p>
                      <a:pPr algn="l">
                        <a:lnSpc>
                          <a:spcPct val="95000"/>
                        </a:lnSpc>
                      </a:pPr>
                      <a:r>
                        <a:rPr sz="1100" b="0">
                          <a:solidFill>
                            <a:srgbClr val="0F172A"/>
                          </a:solidFill>
                          <a:latin typeface="Segoe UI"/>
                        </a:rPr>
                        <a:t>4 GB is tight for reports</a:t>
                      </a:r>
                    </a:p>
                  </a:txBody>
                  <a:tcPr anchor="ctr" marL="100584" marR="64008" marT="18288" marB="18288">
                    <a:solidFill>
                      <a:srgbClr val="F1F5F9"/>
                    </a:solidFill>
                  </a:tcPr>
                </a:tc>
              </a:tr>
              <a:tr h="384048">
                <a:tc>
                  <a:txBody>
                    <a:bodyPr wrap="square"/>
                    <a:lstStyle/>
                    <a:p>
                      <a:pPr algn="l">
                        <a:lnSpc>
                          <a:spcPct val="95000"/>
                        </a:lnSpc>
                      </a:pPr>
                      <a:r>
                        <a:rPr sz="1150" b="1">
                          <a:solidFill>
                            <a:srgbClr val="0F172A"/>
                          </a:solidFill>
                          <a:latin typeface="Segoe UI"/>
                        </a:rPr>
                        <a:t>AWS Lightsail  8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160 GB SSD</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4,951</a:t>
                      </a:r>
                    </a:p>
                  </a:txBody>
                  <a:tcPr anchor="ctr" marL="100584" marR="64008" marT="18288" marB="18288">
                    <a:solidFill>
                      <a:srgbClr val="FFFFFF"/>
                    </a:solidFill>
                  </a:tcPr>
                </a:tc>
                <a:tc>
                  <a:txBody>
                    <a:bodyPr wrap="square"/>
                    <a:lstStyle/>
                    <a:p>
                      <a:pPr algn="l">
                        <a:lnSpc>
                          <a:spcPct val="95000"/>
                        </a:lnSpc>
                      </a:pPr>
                      <a:r>
                        <a:rPr sz="1100" b="0">
                          <a:solidFill>
                            <a:srgbClr val="0F172A"/>
                          </a:solidFill>
                          <a:latin typeface="Segoe UI"/>
                        </a:rPr>
                        <a:t>One simple flat price</a:t>
                      </a:r>
                    </a:p>
                  </a:txBody>
                  <a:tcPr anchor="ctr" marL="100584" marR="64008" marT="18288" marB="18288">
                    <a:solidFill>
                      <a:srgbClr val="FFFFFF"/>
                    </a:solidFill>
                  </a:tcPr>
                </a:tc>
              </a:tr>
              <a:tr h="384048">
                <a:tc>
                  <a:txBody>
                    <a:bodyPr wrap="square"/>
                    <a:lstStyle/>
                    <a:p>
                      <a:pPr algn="l">
                        <a:lnSpc>
                          <a:spcPct val="95000"/>
                        </a:lnSpc>
                      </a:pPr>
                      <a:r>
                        <a:rPr sz="1150" b="1">
                          <a:solidFill>
                            <a:srgbClr val="0F172A"/>
                          </a:solidFill>
                          <a:latin typeface="Segoe UI"/>
                        </a:rPr>
                        <a:t>Google Cloud  e2-standard-2</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200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9,311</a:t>
                      </a:r>
                    </a:p>
                  </a:txBody>
                  <a:tcPr anchor="ctr" marL="100584" marR="64008" marT="18288" marB="18288">
                    <a:solidFill>
                      <a:srgbClr val="F1F5F9"/>
                    </a:solidFill>
                  </a:tcPr>
                </a:tc>
                <a:tc>
                  <a:txBody>
                    <a:bodyPr wrap="square"/>
                    <a:lstStyle/>
                    <a:p>
                      <a:pPr algn="l">
                        <a:lnSpc>
                          <a:spcPct val="95000"/>
                        </a:lnSpc>
                      </a:pPr>
                      <a:r>
                        <a:rPr sz="1100" b="0">
                          <a:solidFill>
                            <a:srgbClr val="0F172A"/>
                          </a:solidFill>
                          <a:latin typeface="Segoe UI"/>
                        </a:rPr>
                        <a:t>Cheaper with 1-year commit</a:t>
                      </a:r>
                    </a:p>
                  </a:txBody>
                  <a:tcPr anchor="ctr" marL="100584" marR="64008" marT="18288" marB="18288">
                    <a:solidFill>
                      <a:srgbClr val="F1F5F9"/>
                    </a:solidFill>
                  </a:tcPr>
                </a:tc>
              </a:tr>
              <a:tr h="384048">
                <a:tc>
                  <a:txBody>
                    <a:bodyPr wrap="square"/>
                    <a:lstStyle/>
                    <a:p>
                      <a:pPr algn="l">
                        <a:lnSpc>
                          <a:spcPct val="95000"/>
                        </a:lnSpc>
                      </a:pPr>
                      <a:r>
                        <a:rPr sz="1150" b="1">
                          <a:solidFill>
                            <a:srgbClr val="0F172A"/>
                          </a:solidFill>
                          <a:latin typeface="Segoe UI"/>
                        </a:rPr>
                        <a:t>AWS EC2  t3.large</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FFFFF"/>
                    </a:solidFill>
                  </a:tcPr>
                </a:tc>
                <a:tc>
                  <a:txBody>
                    <a:bodyPr wrap="square"/>
                    <a:lstStyle/>
                    <a:p>
                      <a:pPr algn="ctr">
                        <a:lnSpc>
                          <a:spcPct val="95000"/>
                        </a:lnSpc>
                      </a:pPr>
                      <a:r>
                        <a:rPr sz="1150" b="0">
                          <a:solidFill>
                            <a:srgbClr val="0F172A"/>
                          </a:solidFill>
                          <a:latin typeface="Segoe UI"/>
                        </a:rPr>
                        <a:t>200 GB SSD</a:t>
                      </a:r>
                    </a:p>
                  </a:txBody>
                  <a:tcPr anchor="ctr" marL="100584" marR="64008" marT="18288" marB="18288">
                    <a:solidFill>
                      <a:srgbClr val="FFFFFF"/>
                    </a:solidFill>
                  </a:tcPr>
                </a:tc>
                <a:tc>
                  <a:txBody>
                    <a:bodyPr wrap="square"/>
                    <a:lstStyle/>
                    <a:p>
                      <a:pPr algn="ctr">
                        <a:lnSpc>
                          <a:spcPct val="95000"/>
                        </a:lnSpc>
                      </a:pPr>
                      <a:r>
                        <a:rPr sz="1250" b="1">
                          <a:solidFill>
                            <a:srgbClr val="0F172A"/>
                          </a:solidFill>
                          <a:latin typeface="Segoe UI"/>
                        </a:rPr>
                        <a:t>9,412</a:t>
                      </a:r>
                    </a:p>
                  </a:txBody>
                  <a:tcPr anchor="ctr" marL="100584" marR="64008" marT="18288" marB="18288">
                    <a:solidFill>
                      <a:srgbClr val="FFFFFF"/>
                    </a:solidFill>
                  </a:tcPr>
                </a:tc>
                <a:tc>
                  <a:txBody>
                    <a:bodyPr wrap="square"/>
                    <a:lstStyle/>
                    <a:p>
                      <a:pPr algn="l">
                        <a:lnSpc>
                          <a:spcPct val="95000"/>
                        </a:lnSpc>
                      </a:pPr>
                      <a:r>
                        <a:rPr sz="1100" b="0">
                          <a:solidFill>
                            <a:srgbClr val="0F172A"/>
                          </a:solidFill>
                          <a:latin typeface="Segoe UI"/>
                        </a:rPr>
                        <a:t>Cheaper with 1-year commit</a:t>
                      </a:r>
                    </a:p>
                  </a:txBody>
                  <a:tcPr anchor="ctr" marL="100584" marR="64008" marT="18288" marB="18288">
                    <a:solidFill>
                      <a:srgbClr val="FFFFFF"/>
                    </a:solidFill>
                  </a:tcPr>
                </a:tc>
              </a:tr>
              <a:tr h="384048">
                <a:tc>
                  <a:txBody>
                    <a:bodyPr wrap="square"/>
                    <a:lstStyle/>
                    <a:p>
                      <a:pPr algn="l">
                        <a:lnSpc>
                          <a:spcPct val="95000"/>
                        </a:lnSpc>
                      </a:pPr>
                      <a:r>
                        <a:rPr sz="1150" b="1">
                          <a:solidFill>
                            <a:srgbClr val="0F172A"/>
                          </a:solidFill>
                          <a:latin typeface="Segoe UI"/>
                        </a:rPr>
                        <a:t>Microsoft Azure  B2ms</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8 GB</a:t>
                      </a:r>
                    </a:p>
                  </a:txBody>
                  <a:tcPr anchor="ctr" marL="100584" marR="64008" marT="18288" marB="18288">
                    <a:solidFill>
                      <a:srgbClr val="F1F5F9"/>
                    </a:solidFill>
                  </a:tcPr>
                </a:tc>
                <a:tc>
                  <a:txBody>
                    <a:bodyPr wrap="square"/>
                    <a:lstStyle/>
                    <a:p>
                      <a:pPr algn="ctr">
                        <a:lnSpc>
                          <a:spcPct val="95000"/>
                        </a:lnSpc>
                      </a:pPr>
                      <a:r>
                        <a:rPr sz="1150" b="0">
                          <a:solidFill>
                            <a:srgbClr val="0F172A"/>
                          </a:solidFill>
                          <a:latin typeface="Segoe UI"/>
                        </a:rPr>
                        <a:t>256 GB SSD</a:t>
                      </a:r>
                    </a:p>
                  </a:txBody>
                  <a:tcPr anchor="ctr" marL="100584" marR="64008" marT="18288" marB="18288">
                    <a:solidFill>
                      <a:srgbClr val="F1F5F9"/>
                    </a:solidFill>
                  </a:tcPr>
                </a:tc>
                <a:tc>
                  <a:txBody>
                    <a:bodyPr wrap="square"/>
                    <a:lstStyle/>
                    <a:p>
                      <a:pPr algn="ctr">
                        <a:lnSpc>
                          <a:spcPct val="95000"/>
                        </a:lnSpc>
                      </a:pPr>
                      <a:r>
                        <a:rPr sz="1250" b="1">
                          <a:solidFill>
                            <a:srgbClr val="0F172A"/>
                          </a:solidFill>
                          <a:latin typeface="Segoe UI"/>
                        </a:rPr>
                        <a:t>9,638</a:t>
                      </a:r>
                    </a:p>
                  </a:txBody>
                  <a:tcPr anchor="ctr" marL="100584" marR="64008" marT="18288" marB="18288">
                    <a:solidFill>
                      <a:srgbClr val="F1F5F9"/>
                    </a:solidFill>
                  </a:tcPr>
                </a:tc>
                <a:tc>
                  <a:txBody>
                    <a:bodyPr wrap="square"/>
                    <a:lstStyle/>
                    <a:p>
                      <a:pPr algn="l">
                        <a:lnSpc>
                          <a:spcPct val="95000"/>
                        </a:lnSpc>
                      </a:pPr>
                      <a:r>
                        <a:rPr sz="1100" b="0">
                          <a:solidFill>
                            <a:srgbClr val="0F172A"/>
                          </a:solidFill>
                          <a:latin typeface="Segoe UI"/>
                        </a:rPr>
                        <a:t>Cheaper with 1-year reserve</a:t>
                      </a:r>
                    </a:p>
                  </a:txBody>
                  <a:tcPr anchor="ctr" marL="100584" marR="64008" marT="18288" marB="18288">
                    <a:solidFill>
                      <a:srgbClr val="F1F5F9"/>
                    </a:solidFill>
                  </a:tcPr>
                </a:tc>
              </a:tr>
            </a:tbl>
          </a:graphicData>
        </a:graphic>
      </p:graphicFrame>
      <p:sp>
        <p:nvSpPr>
          <p:cNvPr id="8" name="Rectangle 7"/>
          <p:cNvSpPr/>
          <p:nvPr/>
        </p:nvSpPr>
        <p:spPr>
          <a:xfrm>
            <a:off x="822960" y="5623560"/>
            <a:ext cx="10561320" cy="603504"/>
          </a:xfrm>
          <a:prstGeom prst="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5623560"/>
            <a:ext cx="91440"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5623560"/>
            <a:ext cx="9966960" cy="603504"/>
          </a:xfrm>
          <a:prstGeom prst="rect">
            <a:avLst/>
          </a:prstGeom>
          <a:noFill/>
        </p:spPr>
        <p:txBody>
          <a:bodyPr wrap="square" anchor="ctr" lIns="0" rIns="0" tIns="0" bIns="0">
            <a:spAutoFit/>
          </a:bodyPr>
          <a:lstStyle/>
          <a:p>
            <a:pPr algn="l">
              <a:lnSpc>
                <a:spcPct val="115000"/>
              </a:lnSpc>
              <a:spcBef>
                <a:spcPts val="0"/>
              </a:spcBef>
              <a:spcAft>
                <a:spcPts val="600"/>
              </a:spcAft>
            </a:pPr>
            <a:r>
              <a:rPr sz="1250" b="1">
                <a:solidFill>
                  <a:srgbClr val="B45309"/>
                </a:solidFill>
                <a:latin typeface="Segoe UI"/>
              </a:rPr>
              <a:t>Our advice:  </a:t>
            </a:r>
            <a:r>
              <a:rPr sz="1250" b="0">
                <a:solidFill>
                  <a:srgbClr val="0F172A"/>
                </a:solidFill>
                <a:latin typeface="Segoe UI"/>
              </a:rPr>
              <a:t>do not go below 8 GB of RAM. Monthly reports and the muster roll need memory, and 4 GB machines slow down badly when several people pull reports together.</a:t>
            </a:r>
          </a:p>
        </p:txBody>
      </p:sp>
      <p:sp>
        <p:nvSpPr>
          <p:cNvPr id="11" name="TextBox 10"/>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12" name="TextBox 11"/>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THE NUMBER THAT REALLY MATTERS</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200" b="1">
                <a:solidFill>
                  <a:srgbClr val="0F172A"/>
                </a:solidFill>
                <a:latin typeface="Cambria"/>
              </a:rPr>
              <a:t>What each option costs over 3 years</a:t>
            </a:r>
          </a:p>
        </p:txBody>
      </p:sp>
      <p:sp>
        <p:nvSpPr>
          <p:cNvPr id="6" name="TextBox 5"/>
          <p:cNvSpPr txBox="1"/>
          <p:nvPr/>
        </p:nvSpPr>
        <p:spPr>
          <a:xfrm>
            <a:off x="822960" y="1444752"/>
            <a:ext cx="10607040" cy="310896"/>
          </a:xfrm>
          <a:prstGeom prst="rect">
            <a:avLst/>
          </a:prstGeom>
          <a:noFill/>
        </p:spPr>
        <p:txBody>
          <a:bodyPr wrap="square" anchor="t" lIns="0" rIns="0" tIns="0" bIns="0">
            <a:spAutoFit/>
          </a:bodyPr>
          <a:lstStyle/>
          <a:p>
            <a:pPr algn="l">
              <a:lnSpc>
                <a:spcPct val="100000"/>
              </a:lnSpc>
              <a:spcBef>
                <a:spcPts val="0"/>
              </a:spcBef>
              <a:spcAft>
                <a:spcPts val="600"/>
              </a:spcAft>
            </a:pPr>
            <a:r>
              <a:rPr sz="1200" b="0">
                <a:solidFill>
                  <a:srgbClr val="64748B"/>
                </a:solidFill>
                <a:latin typeface="Segoe UI"/>
              </a:rPr>
              <a:t>Total money paid across 36 months, including 18% GST. Renewal price rises are included where they apply.</a:t>
            </a:r>
          </a:p>
        </p:txBody>
      </p:sp>
      <p:sp>
        <p:nvSpPr>
          <p:cNvPr id="7" name="TextBox 6"/>
          <p:cNvSpPr txBox="1"/>
          <p:nvPr/>
        </p:nvSpPr>
        <p:spPr>
          <a:xfrm>
            <a:off x="822960" y="1819656"/>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Hostinger VPS (Mumbai)</a:t>
            </a:r>
          </a:p>
        </p:txBody>
      </p:sp>
      <p:sp>
        <p:nvSpPr>
          <p:cNvPr id="8" name="Rectangle 7"/>
          <p:cNvSpPr/>
          <p:nvPr/>
        </p:nvSpPr>
        <p:spPr>
          <a:xfrm>
            <a:off x="3291840" y="1847088"/>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1847088"/>
            <a:ext cx="518351"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19919" y="1819656"/>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65,100</a:t>
            </a:r>
          </a:p>
        </p:txBody>
      </p:sp>
      <p:sp>
        <p:nvSpPr>
          <p:cNvPr id="11" name="TextBox 10"/>
          <p:cNvSpPr txBox="1"/>
          <p:nvPr/>
        </p:nvSpPr>
        <p:spPr>
          <a:xfrm>
            <a:off x="9692640" y="1819656"/>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2 yrs at Rs. 1,297 + 1 yr at Rs. 2,831</a:t>
            </a:r>
          </a:p>
        </p:txBody>
      </p:sp>
      <p:sp>
        <p:nvSpPr>
          <p:cNvPr id="12" name="TextBox 11"/>
          <p:cNvSpPr txBox="1"/>
          <p:nvPr/>
        </p:nvSpPr>
        <p:spPr>
          <a:xfrm>
            <a:off x="822960" y="2249424"/>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Hetzner CX43 (Germany)</a:t>
            </a:r>
          </a:p>
        </p:txBody>
      </p:sp>
      <p:sp>
        <p:nvSpPr>
          <p:cNvPr id="13" name="Rectangle 12"/>
          <p:cNvSpPr/>
          <p:nvPr/>
        </p:nvSpPr>
        <p:spPr>
          <a:xfrm>
            <a:off x="3291840" y="2276856"/>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2276856"/>
            <a:ext cx="595936" cy="310896"/>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97504" y="2249424"/>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74,844</a:t>
            </a:r>
          </a:p>
        </p:txBody>
      </p:sp>
      <p:sp>
        <p:nvSpPr>
          <p:cNvPr id="16" name="TextBox 15"/>
          <p:cNvSpPr txBox="1"/>
          <p:nvPr/>
        </p:nvSpPr>
        <p:spPr>
          <a:xfrm>
            <a:off x="9692640" y="2249424"/>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Cheapest, but data leaves India</a:t>
            </a:r>
          </a:p>
        </p:txBody>
      </p:sp>
      <p:sp>
        <p:nvSpPr>
          <p:cNvPr id="17" name="TextBox 16"/>
          <p:cNvSpPr txBox="1"/>
          <p:nvPr/>
        </p:nvSpPr>
        <p:spPr>
          <a:xfrm>
            <a:off x="822960" y="2679192"/>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DigitalOcean (Bangalore)</a:t>
            </a:r>
          </a:p>
        </p:txBody>
      </p:sp>
      <p:sp>
        <p:nvSpPr>
          <p:cNvPr id="18" name="Rectangle 17"/>
          <p:cNvSpPr/>
          <p:nvPr/>
        </p:nvSpPr>
        <p:spPr>
          <a:xfrm>
            <a:off x="3291840" y="2706624"/>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2706624"/>
            <a:ext cx="1548173"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49741" y="2679192"/>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194,436</a:t>
            </a:r>
          </a:p>
        </p:txBody>
      </p:sp>
      <p:sp>
        <p:nvSpPr>
          <p:cNvPr id="21" name="TextBox 20"/>
          <p:cNvSpPr txBox="1"/>
          <p:nvPr/>
        </p:nvSpPr>
        <p:spPr>
          <a:xfrm>
            <a:off x="9692640" y="2679192"/>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Flat Rs. 5,401 a month</a:t>
            </a:r>
          </a:p>
        </p:txBody>
      </p:sp>
      <p:sp>
        <p:nvSpPr>
          <p:cNvPr id="22" name="TextBox 21"/>
          <p:cNvSpPr txBox="1"/>
          <p:nvPr/>
        </p:nvSpPr>
        <p:spPr>
          <a:xfrm>
            <a:off x="822960" y="3108960"/>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Akamai / Linode (Mumbai)</a:t>
            </a:r>
          </a:p>
        </p:txBody>
      </p:sp>
      <p:sp>
        <p:nvSpPr>
          <p:cNvPr id="23" name="Rectangle 22"/>
          <p:cNvSpPr/>
          <p:nvPr/>
        </p:nvSpPr>
        <p:spPr>
          <a:xfrm>
            <a:off x="3291840" y="3136392"/>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91840" y="3136392"/>
            <a:ext cx="1548173" cy="310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49741" y="3108960"/>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194,436</a:t>
            </a:r>
          </a:p>
        </p:txBody>
      </p:sp>
      <p:sp>
        <p:nvSpPr>
          <p:cNvPr id="26" name="TextBox 25"/>
          <p:cNvSpPr txBox="1"/>
          <p:nvPr/>
        </p:nvSpPr>
        <p:spPr>
          <a:xfrm>
            <a:off x="9692640" y="3108960"/>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Flat Rs. 5,401 a month</a:t>
            </a:r>
          </a:p>
        </p:txBody>
      </p:sp>
      <p:sp>
        <p:nvSpPr>
          <p:cNvPr id="27" name="TextBox 26"/>
          <p:cNvSpPr txBox="1"/>
          <p:nvPr/>
        </p:nvSpPr>
        <p:spPr>
          <a:xfrm>
            <a:off x="822960" y="3538728"/>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AWS Lightsail (Mumbai)</a:t>
            </a:r>
          </a:p>
        </p:txBody>
      </p:sp>
      <p:sp>
        <p:nvSpPr>
          <p:cNvPr id="28" name="Rectangle 27"/>
          <p:cNvSpPr/>
          <p:nvPr/>
        </p:nvSpPr>
        <p:spPr>
          <a:xfrm>
            <a:off x="3291840" y="3566160"/>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91840" y="3566160"/>
            <a:ext cx="2709089" cy="31089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10657" y="3538728"/>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340,236</a:t>
            </a:r>
          </a:p>
        </p:txBody>
      </p:sp>
      <p:sp>
        <p:nvSpPr>
          <p:cNvPr id="31" name="TextBox 30"/>
          <p:cNvSpPr txBox="1"/>
          <p:nvPr/>
        </p:nvSpPr>
        <p:spPr>
          <a:xfrm>
            <a:off x="9692640" y="3538728"/>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Flat Rs. 9,451 a month</a:t>
            </a:r>
          </a:p>
        </p:txBody>
      </p:sp>
      <p:sp>
        <p:nvSpPr>
          <p:cNvPr id="32" name="TextBox 31"/>
          <p:cNvSpPr txBox="1"/>
          <p:nvPr/>
        </p:nvSpPr>
        <p:spPr>
          <a:xfrm>
            <a:off x="822960" y="3968496"/>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Your own server in office</a:t>
            </a:r>
          </a:p>
        </p:txBody>
      </p:sp>
      <p:sp>
        <p:nvSpPr>
          <p:cNvPr id="33" name="Rectangle 32"/>
          <p:cNvSpPr/>
          <p:nvPr/>
        </p:nvSpPr>
        <p:spPr>
          <a:xfrm>
            <a:off x="3291840" y="3995928"/>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91840" y="3995928"/>
            <a:ext cx="2754984" cy="310896"/>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56552" y="3968496"/>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346,000</a:t>
            </a:r>
          </a:p>
        </p:txBody>
      </p:sp>
      <p:sp>
        <p:nvSpPr>
          <p:cNvPr id="36" name="TextBox 35"/>
          <p:cNvSpPr txBox="1"/>
          <p:nvPr/>
        </p:nvSpPr>
        <p:spPr>
          <a:xfrm>
            <a:off x="9692640" y="3968496"/>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Rs. 2.2 lakh hardware + Rs. 3,500 a month</a:t>
            </a:r>
          </a:p>
        </p:txBody>
      </p:sp>
      <p:sp>
        <p:nvSpPr>
          <p:cNvPr id="37" name="TextBox 36"/>
          <p:cNvSpPr txBox="1"/>
          <p:nvPr/>
        </p:nvSpPr>
        <p:spPr>
          <a:xfrm>
            <a:off x="822960" y="4398264"/>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Google Cloud (Mumbai)</a:t>
            </a:r>
          </a:p>
        </p:txBody>
      </p:sp>
      <p:sp>
        <p:nvSpPr>
          <p:cNvPr id="38" name="Rectangle 37"/>
          <p:cNvSpPr/>
          <p:nvPr/>
        </p:nvSpPr>
        <p:spPr>
          <a:xfrm>
            <a:off x="3291840" y="4425696"/>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91840" y="4425696"/>
            <a:ext cx="4563973" cy="310896"/>
          </a:xfrm>
          <a:prstGeom prst="rect">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65541" y="4398264"/>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573,192</a:t>
            </a:r>
          </a:p>
        </p:txBody>
      </p:sp>
      <p:sp>
        <p:nvSpPr>
          <p:cNvPr id="41" name="TextBox 40"/>
          <p:cNvSpPr txBox="1"/>
          <p:nvPr/>
        </p:nvSpPr>
        <p:spPr>
          <a:xfrm>
            <a:off x="9692640" y="4398264"/>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Drops to about Rs. 3.97 lakh with 1-yr commit</a:t>
            </a:r>
          </a:p>
        </p:txBody>
      </p:sp>
      <p:sp>
        <p:nvSpPr>
          <p:cNvPr id="42" name="TextBox 41"/>
          <p:cNvSpPr txBox="1"/>
          <p:nvPr/>
        </p:nvSpPr>
        <p:spPr>
          <a:xfrm>
            <a:off x="822960" y="4828032"/>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AWS EC2 (Mumbai)</a:t>
            </a:r>
          </a:p>
        </p:txBody>
      </p:sp>
      <p:sp>
        <p:nvSpPr>
          <p:cNvPr id="43" name="Rectangle 42"/>
          <p:cNvSpPr/>
          <p:nvPr/>
        </p:nvSpPr>
        <p:spPr>
          <a:xfrm>
            <a:off x="3291840" y="4855464"/>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291840" y="4855464"/>
            <a:ext cx="4807622" cy="310896"/>
          </a:xfrm>
          <a:prstGeom prst="rect">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09190" y="4828032"/>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603,792</a:t>
            </a:r>
          </a:p>
        </p:txBody>
      </p:sp>
      <p:sp>
        <p:nvSpPr>
          <p:cNvPr id="46" name="TextBox 45"/>
          <p:cNvSpPr txBox="1"/>
          <p:nvPr/>
        </p:nvSpPr>
        <p:spPr>
          <a:xfrm>
            <a:off x="9692640" y="4828032"/>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Drops to about Rs. 3.92 lakh with 1-yr commit</a:t>
            </a:r>
          </a:p>
        </p:txBody>
      </p:sp>
      <p:sp>
        <p:nvSpPr>
          <p:cNvPr id="47" name="TextBox 46"/>
          <p:cNvSpPr txBox="1"/>
          <p:nvPr/>
        </p:nvSpPr>
        <p:spPr>
          <a:xfrm>
            <a:off x="822960" y="5257800"/>
            <a:ext cx="2377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Microsoft Azure (Pune)</a:t>
            </a:r>
          </a:p>
        </p:txBody>
      </p:sp>
      <p:sp>
        <p:nvSpPr>
          <p:cNvPr id="48" name="Rectangle 47"/>
          <p:cNvSpPr/>
          <p:nvPr/>
        </p:nvSpPr>
        <p:spPr>
          <a:xfrm>
            <a:off x="3291840" y="5285232"/>
            <a:ext cx="4846320" cy="3108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291840" y="5285232"/>
            <a:ext cx="4846320" cy="310896"/>
          </a:xfrm>
          <a:prstGeom prst="rect">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47888" y="5257800"/>
            <a:ext cx="1234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50" b="1">
                <a:solidFill>
                  <a:srgbClr val="0F172A"/>
                </a:solidFill>
                <a:latin typeface="Segoe UI"/>
              </a:rPr>
              <a:t>Rs. 608,652</a:t>
            </a:r>
          </a:p>
        </p:txBody>
      </p:sp>
      <p:sp>
        <p:nvSpPr>
          <p:cNvPr id="51" name="TextBox 50"/>
          <p:cNvSpPr txBox="1"/>
          <p:nvPr/>
        </p:nvSpPr>
        <p:spPr>
          <a:xfrm>
            <a:off x="9692640" y="5257800"/>
            <a:ext cx="2011680" cy="365760"/>
          </a:xfrm>
          <a:prstGeom prst="rect">
            <a:avLst/>
          </a:prstGeom>
          <a:noFill/>
        </p:spPr>
        <p:txBody>
          <a:bodyPr wrap="square" anchor="ctr" lIns="0" rIns="0" tIns="0" bIns="0">
            <a:spAutoFit/>
          </a:bodyPr>
          <a:lstStyle/>
          <a:p>
            <a:pPr algn="l">
              <a:lnSpc>
                <a:spcPct val="100000"/>
              </a:lnSpc>
              <a:spcBef>
                <a:spcPts val="0"/>
              </a:spcBef>
              <a:spcAft>
                <a:spcPts val="600"/>
              </a:spcAft>
            </a:pPr>
            <a:r>
              <a:rPr sz="950" b="0">
                <a:solidFill>
                  <a:srgbClr val="64748B"/>
                </a:solidFill>
                <a:latin typeface="Segoe UI"/>
              </a:rPr>
              <a:t>Drops to about Rs. 3.99 lakh with 1-yr reserve</a:t>
            </a:r>
          </a:p>
        </p:txBody>
      </p:sp>
      <p:sp>
        <p:nvSpPr>
          <p:cNvPr id="52" name="TextBox 51"/>
          <p:cNvSpPr txBox="1"/>
          <p:nvPr/>
        </p:nvSpPr>
        <p:spPr>
          <a:xfrm>
            <a:off x="822960" y="5870448"/>
            <a:ext cx="1060704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a:solidFill>
                  <a:srgbClr val="64748B"/>
                </a:solidFill>
                <a:latin typeface="Segoe UI"/>
              </a:rPr>
              <a:t>The three big clouds cost 8 to 9 times more than a rented server for the same size machine — that pays for scale you may not need yet.</a:t>
            </a:r>
          </a:p>
        </p:txBody>
      </p:sp>
      <p:sp>
        <p:nvSpPr>
          <p:cNvPr id="53" name="TextBox 52"/>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54" name="TextBox 53"/>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OPTION 1  ·  RENTED SERVER</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Hostinger  ·  VPS KVM 4</a:t>
            </a:r>
          </a:p>
        </p:txBody>
      </p:sp>
      <p:sp>
        <p:nvSpPr>
          <p:cNvPr id="6" name="Rounded Rectangle 5"/>
          <p:cNvSpPr/>
          <p:nvPr/>
        </p:nvSpPr>
        <p:spPr>
          <a:xfrm>
            <a:off x="9224468" y="786384"/>
            <a:ext cx="2159812"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24468" y="786384"/>
            <a:ext cx="2159812"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Mumbai</a:t>
            </a:r>
          </a:p>
        </p:txBody>
      </p:sp>
      <p:sp>
        <p:nvSpPr>
          <p:cNvPr id="8" name="Rounded Rectangle 7"/>
          <p:cNvSpPr/>
          <p:nvPr/>
        </p:nvSpPr>
        <p:spPr>
          <a:xfrm>
            <a:off x="7079286" y="786384"/>
            <a:ext cx="1980590"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79286" y="786384"/>
            <a:ext cx="1980590"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1,297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200 GB NVMe</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TB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1,297 a month including GST  ·  base Rs. 1,099 + Rs. 198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Comfortable for about 10,000 workers across 40 sites, with 100 phones syncing.</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By far the cheapest way to run CLAMS properly.</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Full 4 processors, 16 GB memory and fast 200 GB NVMe disk.</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Server sits in Mumbai, so worker data stays inside India.</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Free weekly backup, firewall and a simple control panel.</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16 TB of data transfer — CLAMS will never come close to that.</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This price needs 2 years paid upfront (about Rs. 31,000 with GST).</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After 2 years it renews at Rs. 2,831 a month.</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Free backups are weekly only; daily backups cost extra.</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Hardware is shared, so speed can dip if a neighbour is busy.</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Support is chat and ticket only, no dedicated manager.</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2563EB"/>
                </a:solidFill>
                <a:latin typeface="Segoe UI"/>
              </a:rPr>
              <a:t>OPTION 2  ·  RENTED SERVER</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DigitalOcean  ·  Basic Droplet</a:t>
            </a:r>
          </a:p>
        </p:txBody>
      </p:sp>
      <p:sp>
        <p:nvSpPr>
          <p:cNvPr id="6" name="Rounded Rectangle 5"/>
          <p:cNvSpPr/>
          <p:nvPr/>
        </p:nvSpPr>
        <p:spPr>
          <a:xfrm>
            <a:off x="8955634" y="786384"/>
            <a:ext cx="2428646"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55634" y="786384"/>
            <a:ext cx="2428646"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Bangalore</a:t>
            </a:r>
          </a:p>
        </p:txBody>
      </p:sp>
      <p:sp>
        <p:nvSpPr>
          <p:cNvPr id="8" name="Rounded Rectangle 7"/>
          <p:cNvSpPr/>
          <p:nvPr/>
        </p:nvSpPr>
        <p:spPr>
          <a:xfrm>
            <a:off x="6810452" y="786384"/>
            <a:ext cx="1980590"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0452" y="786384"/>
            <a:ext cx="1980590"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5,401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8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160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5 TB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5,401 a month including GST  ·  USD 48 converted at Rs. 95.35 + 18%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Comfortable for about 4,000 workers across 20 sites. The 16 GB plan costs roughly double.</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Bangalore data centre — your data stays inside India.</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Very reliable and genuinely simple to use.</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Daily backups are one click away (adds 30% to the price).</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Same price every month, cancel any time, no lock-in.</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Upgrading to a bigger machine takes a few minutes of downtime.</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About four times the cost of Hostinger.</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You get 8 GB memory at this price, not 16 GB.</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Billed in US dollars, so the rupee amount moves a little.</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Backups and extra disks are charged on top.</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0E9488"/>
                </a:solidFill>
                <a:latin typeface="Segoe UI"/>
              </a:rPr>
              <a:t>OPTION 3  ·  RENTED SERVER</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Akamai Cloud (Linode)  ·  8 GB</a:t>
            </a:r>
          </a:p>
        </p:txBody>
      </p:sp>
      <p:sp>
        <p:nvSpPr>
          <p:cNvPr id="6" name="Rounded Rectangle 5"/>
          <p:cNvSpPr/>
          <p:nvPr/>
        </p:nvSpPr>
        <p:spPr>
          <a:xfrm>
            <a:off x="8238744" y="786384"/>
            <a:ext cx="3145536"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38744" y="786384"/>
            <a:ext cx="3145536"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Mumbai or Chennai</a:t>
            </a:r>
          </a:p>
        </p:txBody>
      </p:sp>
      <p:sp>
        <p:nvSpPr>
          <p:cNvPr id="8" name="Rounded Rectangle 7"/>
          <p:cNvSpPr/>
          <p:nvPr/>
        </p:nvSpPr>
        <p:spPr>
          <a:xfrm>
            <a:off x="6093562" y="786384"/>
            <a:ext cx="1980590"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3562" y="786384"/>
            <a:ext cx="1980590"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5,401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8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160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5 TB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5,401 a month including GST  ·  USD 48 converted at Rs. 95.35 + 18%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Comfortable for about 4,000 workers across 20 sites. The 16 GB plan is Rs. 10,801 a month.</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Two Indian locations — useful if you later want a standby copy.</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Runs on the Akamai network, which is very fast in India.</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Simple flat price with 5 TB transfer included.</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Well proven for small business systems like this one.</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Costs the same as DigitalOcean with no clear advantage for CLAMS.</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Billed in US dollars.</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Backups cost extra, around a quarter of the server price.</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Smaller support presence in India than AWS or Azure.</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64748B"/>
                </a:solidFill>
                <a:latin typeface="Segoe UI"/>
              </a:rPr>
              <a:t>OPTION 4  ·  RENTED SERVER (NOT RECOMMENDED)</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Hetzner  ·  CX43</a:t>
            </a:r>
          </a:p>
        </p:txBody>
      </p:sp>
      <p:sp>
        <p:nvSpPr>
          <p:cNvPr id="6" name="Rounded Rectangle 5"/>
          <p:cNvSpPr/>
          <p:nvPr/>
        </p:nvSpPr>
        <p:spPr>
          <a:xfrm>
            <a:off x="7790688" y="786384"/>
            <a:ext cx="3593592" cy="402336"/>
          </a:xfrm>
          <a:prstGeom prst="round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90688" y="786384"/>
            <a:ext cx="3593592"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DC2626"/>
                </a:solidFill>
                <a:latin typeface="Segoe UI"/>
              </a:rPr>
              <a:t>Outside India  ·  Germany / Finland</a:t>
            </a:r>
          </a:p>
        </p:txBody>
      </p:sp>
      <p:sp>
        <p:nvSpPr>
          <p:cNvPr id="8" name="Rounded Rectangle 7"/>
          <p:cNvSpPr/>
          <p:nvPr/>
        </p:nvSpPr>
        <p:spPr>
          <a:xfrm>
            <a:off x="5645506" y="786384"/>
            <a:ext cx="1980590"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45506" y="786384"/>
            <a:ext cx="1980590"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2,079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8</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160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20 TB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2,079 a month  ·  EUR 15.99 converted at Rs. 110.20, plus 18% GST you pay yourself</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Powerful for the money, but the server and your worker data would sit in Europe.</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Very cheap for 8 processors and 16 GB memory.</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Pay month to month, no long commitment.</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Fast, modern hardware and a huge 20 TB transfer allowance.</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No data centre in India — Aadhaar numbers, photos and bank details would sit in Europe.</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A real compliance risk here, so we do not recommend it.</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Screens feel slightly slower for users in India.</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Billed in euros, plus a bank forex charge.</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Prices rose twice in 2026, so this may not last.</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2563EB"/>
                </a:solidFill>
                <a:latin typeface="Segoe UI"/>
              </a:rPr>
              <a:t>OPTION 5  ·  BIG CLOUD, SIMPLE PRICE</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AWS Lightsail  ·  16 GB plan</a:t>
            </a:r>
          </a:p>
        </p:txBody>
      </p:sp>
      <p:sp>
        <p:nvSpPr>
          <p:cNvPr id="6" name="Rounded Rectangle 5"/>
          <p:cNvSpPr/>
          <p:nvPr/>
        </p:nvSpPr>
        <p:spPr>
          <a:xfrm>
            <a:off x="9224468" y="786384"/>
            <a:ext cx="2159812"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24468" y="786384"/>
            <a:ext cx="2159812"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Mumbai</a:t>
            </a:r>
          </a:p>
        </p:txBody>
      </p:sp>
      <p:sp>
        <p:nvSpPr>
          <p:cNvPr id="8" name="Rounded Rectangle 7"/>
          <p:cNvSpPr/>
          <p:nvPr/>
        </p:nvSpPr>
        <p:spPr>
          <a:xfrm>
            <a:off x="7079286" y="786384"/>
            <a:ext cx="1980590"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79286" y="786384"/>
            <a:ext cx="1980590"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9,451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320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6 TB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9,451 a month including GST  ·  USD 84 converted at Rs. 95.35 + 18%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Comfortable for about 10,000 workers across 40 sites, with 100 phones syncing.</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It is Amazon AWS, but with one fixed price and no complicated bill.</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Mumbai region, so your data stays inside India.</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Generous 320 GB disk and 6 TB transfer already included.</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Automatic daily snapshots can be switched on cheaply.</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AWS is empanelled with MeitY, which helps in tenders and audits.</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About seven times the cost of Hostinger for a similar machine.</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Fewer advanced settings than full AWS EC2.</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No long-term commitment discounts on this product.</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Billed in US dollars.</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10214A"/>
                </a:solidFill>
                <a:latin typeface="Segoe UI"/>
              </a:rPr>
              <a:t>OPTION 6  ·  BIG CLOUD, FULL CONTROL</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Amazon AWS  ·  EC2 t3.xlarge</a:t>
            </a:r>
          </a:p>
        </p:txBody>
      </p:sp>
      <p:sp>
        <p:nvSpPr>
          <p:cNvPr id="6" name="Rounded Rectangle 5"/>
          <p:cNvSpPr/>
          <p:nvPr/>
        </p:nvSpPr>
        <p:spPr>
          <a:xfrm>
            <a:off x="9224468" y="786384"/>
            <a:ext cx="2159812"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24468" y="786384"/>
            <a:ext cx="2159812"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Mumbai</a:t>
            </a:r>
          </a:p>
        </p:txBody>
      </p:sp>
      <p:sp>
        <p:nvSpPr>
          <p:cNvPr id="8" name="Rounded Rectangle 7"/>
          <p:cNvSpPr/>
          <p:nvPr/>
        </p:nvSpPr>
        <p:spPr>
          <a:xfrm>
            <a:off x="6989675" y="786384"/>
            <a:ext cx="2070201"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89675" y="786384"/>
            <a:ext cx="2070201"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16,772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200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100 GB free</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16,772 a month including GST  ·  server USD 130.82 + disk USD 18.24, then 18%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Falls to roughly Rs. 10,900 a month if you commit for one year. Data sent out beyond 100 GB is charged separately.</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The most complete cloud — managed database, load balancing and object storage are ready when you grow.</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Mumbai and Hyderabad regions; empanelled with MeitY for government work.</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A one-year or three-year commitment cuts the bill by about 40%.</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Excellent security tools and paid 24x7 support if you want it.</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The most expensive option at the normal pay-as-you-go price.</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The bill has many small items — disk, IP address, data out, snapshots.</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Easy to overspend by mistake if nobody is watching the account.</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Needs a person who knows AWS to set up and keep tidy.</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Billed in US dollars.</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0E9488"/>
                </a:solidFill>
                <a:latin typeface="Segoe UI"/>
              </a:rPr>
              <a:t>OPTION 7  ·  BIG CLOUD</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Google Cloud  ·  e2-standard-4</a:t>
            </a:r>
          </a:p>
        </p:txBody>
      </p:sp>
      <p:sp>
        <p:nvSpPr>
          <p:cNvPr id="6" name="Rounded Rectangle 5"/>
          <p:cNvSpPr/>
          <p:nvPr/>
        </p:nvSpPr>
        <p:spPr>
          <a:xfrm>
            <a:off x="9224468" y="786384"/>
            <a:ext cx="2159812"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24468" y="786384"/>
            <a:ext cx="2159812"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Mumbai</a:t>
            </a:r>
          </a:p>
        </p:txBody>
      </p:sp>
      <p:sp>
        <p:nvSpPr>
          <p:cNvPr id="8" name="Rounded Rectangle 7"/>
          <p:cNvSpPr/>
          <p:nvPr/>
        </p:nvSpPr>
        <p:spPr>
          <a:xfrm>
            <a:off x="6989675" y="786384"/>
            <a:ext cx="2070201"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89675" y="786384"/>
            <a:ext cx="2070201"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15,922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200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Per GB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15,922 a month including GST  ·  server USD 117.51 + disk USD 24.00, then 18%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Falls to roughly Rs. 11,000 a month with a one-year commitment.</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Mumbai and Delhi regions, so data stays inside India.</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A one-year commitment saves about 37%.</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Very fast network and a clean, easy-to-read console.</a:t>
            </a:r>
          </a:p>
          <a:p>
            <a:pPr algn="l" marL="146304" indent="-146304">
              <a:lnSpc>
                <a:spcPct val="106000"/>
              </a:lnSpc>
              <a:spcBef>
                <a:spcPts val="0"/>
              </a:spcBef>
              <a:spcAft>
                <a:spcPts val="500"/>
              </a:spcAft>
            </a:pPr>
            <a:r>
              <a:rPr sz="1250" b="1">
                <a:solidFill>
                  <a:srgbClr val="16A34A"/>
                </a:solidFill>
                <a:latin typeface="Segoe UI"/>
              </a:rPr>
              <a:t>•  </a:t>
            </a:r>
            <a:r>
              <a:rPr sz="1250" b="0">
                <a:solidFill>
                  <a:srgbClr val="0F172A"/>
                </a:solidFill>
                <a:latin typeface="Segoe UI"/>
              </a:rPr>
              <a:t>New accounts get about Rs. 28,000 (USD 300) of free credit to trial it.</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Expensive next to a plain rented server.</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Billing is detailed and needs to be watched every month.</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Data leaving the server is charged per GB, unlike the flat plans.</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Fewer Google Cloud partners in India than AWS or Azure.</a:t>
            </a:r>
          </a:p>
          <a:p>
            <a:pPr algn="l" marL="146304" indent="-146304">
              <a:lnSpc>
                <a:spcPct val="106000"/>
              </a:lnSpc>
              <a:spcBef>
                <a:spcPts val="0"/>
              </a:spcBef>
              <a:spcAft>
                <a:spcPts val="500"/>
              </a:spcAft>
            </a:pPr>
            <a:r>
              <a:rPr sz="1250" b="1">
                <a:solidFill>
                  <a:srgbClr val="DC2626"/>
                </a:solidFill>
                <a:latin typeface="Segoe UI"/>
              </a:rPr>
              <a:t>•  </a:t>
            </a:r>
            <a:r>
              <a:rPr sz="1250" b="0">
                <a:solidFill>
                  <a:srgbClr val="0F172A"/>
                </a:solidFill>
                <a:latin typeface="Segoe UI"/>
              </a:rPr>
              <a:t>Billed in US dollars.</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2563EB"/>
                </a:solidFill>
                <a:latin typeface="Segoe UI"/>
              </a:rPr>
              <a:t>OPTION 8  ·  BIG CLOUD, WHERE CLAMS RUNS TODAY</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900" b="1">
                <a:solidFill>
                  <a:srgbClr val="0F172A"/>
                </a:solidFill>
                <a:latin typeface="Cambria"/>
              </a:rPr>
              <a:t>Microsoft Azure  ·  B4ms</a:t>
            </a:r>
          </a:p>
        </p:txBody>
      </p:sp>
      <p:sp>
        <p:nvSpPr>
          <p:cNvPr id="6" name="Rounded Rectangle 5"/>
          <p:cNvSpPr/>
          <p:nvPr/>
        </p:nvSpPr>
        <p:spPr>
          <a:xfrm>
            <a:off x="7969911" y="786384"/>
            <a:ext cx="3414369"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69911" y="786384"/>
            <a:ext cx="3414369"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Pune (Central India)</a:t>
            </a:r>
          </a:p>
        </p:txBody>
      </p:sp>
      <p:sp>
        <p:nvSpPr>
          <p:cNvPr id="8" name="Rounded Rectangle 7"/>
          <p:cNvSpPr/>
          <p:nvPr/>
        </p:nvSpPr>
        <p:spPr>
          <a:xfrm>
            <a:off x="5735118" y="786384"/>
            <a:ext cx="2070201"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35118" y="786384"/>
            <a:ext cx="2070201"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16,907 / month</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4</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16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256 GB SSD</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Per GB</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Rs. 16,907 a month including GST  ·  server Rs. 12,334 + disk Rs. 1,994, then 18% GST</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Falls to roughly Rs. 11,100 a month with a one-year reservation.</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CLAMS runs on Azure today, so moving to your own Azure account is the smallest change.</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Pune, Mumbai and Chennai regions; empanelled with MeitY.</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A one-year reservation saves about 40%.</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Best fit if you already use Microsoft 365 — one bill, one login.</a:t>
            </a:r>
          </a:p>
          <a:p>
            <a:pPr algn="l" marL="146304" indent="-146304">
              <a:lnSpc>
                <a:spcPct val="106000"/>
              </a:lnSpc>
              <a:spcBef>
                <a:spcPts val="0"/>
              </a:spcBef>
              <a:spcAft>
                <a:spcPts val="500"/>
              </a:spcAft>
            </a:pPr>
            <a:r>
              <a:rPr sz="1200" b="1">
                <a:solidFill>
                  <a:srgbClr val="16A34A"/>
                </a:solidFill>
                <a:latin typeface="Segoe UI"/>
              </a:rPr>
              <a:t>•  </a:t>
            </a:r>
            <a:r>
              <a:rPr sz="1200" b="0">
                <a:solidFill>
                  <a:srgbClr val="0F172A"/>
                </a:solidFill>
                <a:latin typeface="Segoe UI"/>
              </a:rPr>
              <a:t>Managed PostgreSQL and backups available as you grow.</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The highest pay-as-you-go price in this comparison.</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The portal and the bill are complicated for a small team.</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Disk, backup, IP address and logs are all charged separately.</a:t>
            </a:r>
          </a:p>
          <a:p>
            <a:pPr algn="l" marL="146304" indent="-146304">
              <a:lnSpc>
                <a:spcPct val="106000"/>
              </a:lnSpc>
              <a:spcBef>
                <a:spcPts val="0"/>
              </a:spcBef>
              <a:spcAft>
                <a:spcPts val="500"/>
              </a:spcAft>
            </a:pPr>
            <a:r>
              <a:rPr sz="1200" b="1">
                <a:solidFill>
                  <a:srgbClr val="DC2626"/>
                </a:solidFill>
                <a:latin typeface="Segoe UI"/>
              </a:rPr>
              <a:t>•  </a:t>
            </a:r>
            <a:r>
              <a:rPr sz="1200" b="0">
                <a:solidFill>
                  <a:srgbClr val="0F172A"/>
                </a:solidFill>
                <a:latin typeface="Segoe UI"/>
              </a:rPr>
              <a:t>Needs someone comfortable with Azure to look after it.</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714BD1"/>
                </a:solidFill>
                <a:latin typeface="Segoe UI"/>
              </a:rPr>
              <a:t>OPTION 9  ·  BUY THE HARDWARE</a:t>
            </a:r>
          </a:p>
        </p:txBody>
      </p:sp>
      <p:sp>
        <p:nvSpPr>
          <p:cNvPr id="5" name="TextBox 4"/>
          <p:cNvSpPr txBox="1"/>
          <p:nvPr/>
        </p:nvSpPr>
        <p:spPr>
          <a:xfrm>
            <a:off x="822960" y="731520"/>
            <a:ext cx="6583680" cy="640080"/>
          </a:xfrm>
          <a:prstGeom prst="rect">
            <a:avLst/>
          </a:prstGeom>
          <a:noFill/>
        </p:spPr>
        <p:txBody>
          <a:bodyPr wrap="square" anchor="ctr" lIns="0" rIns="0" tIns="0" bIns="0">
            <a:spAutoFit/>
          </a:bodyPr>
          <a:lstStyle/>
          <a:p>
            <a:pPr algn="l">
              <a:lnSpc>
                <a:spcPct val="100000"/>
              </a:lnSpc>
              <a:spcBef>
                <a:spcPts val="0"/>
              </a:spcBef>
              <a:spcAft>
                <a:spcPts val="600"/>
              </a:spcAft>
            </a:pPr>
            <a:r>
              <a:rPr sz="2600" b="1">
                <a:solidFill>
                  <a:srgbClr val="0F172A"/>
                </a:solidFill>
                <a:latin typeface="Cambria"/>
              </a:rPr>
              <a:t>Your own server, in your office</a:t>
            </a:r>
          </a:p>
        </p:txBody>
      </p:sp>
      <p:sp>
        <p:nvSpPr>
          <p:cNvPr id="6" name="Rounded Rectangle 5"/>
          <p:cNvSpPr/>
          <p:nvPr/>
        </p:nvSpPr>
        <p:spPr>
          <a:xfrm>
            <a:off x="8597189" y="786384"/>
            <a:ext cx="2787091" cy="402336"/>
          </a:xfrm>
          <a:prstGeom prst="roundRect">
            <a:avLst/>
          </a:prstGeom>
          <a:solidFill>
            <a:srgbClr val="ECF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7189" y="786384"/>
            <a:ext cx="2787091"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16A34A"/>
                </a:solidFill>
                <a:latin typeface="Segoe UI"/>
              </a:rPr>
              <a:t>In India  ·  Your premises</a:t>
            </a:r>
          </a:p>
        </p:txBody>
      </p:sp>
      <p:sp>
        <p:nvSpPr>
          <p:cNvPr id="8" name="Rounded Rectangle 7"/>
          <p:cNvSpPr/>
          <p:nvPr/>
        </p:nvSpPr>
        <p:spPr>
          <a:xfrm>
            <a:off x="6093562" y="786384"/>
            <a:ext cx="2339035" cy="402336"/>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3562" y="786384"/>
            <a:ext cx="2339035" cy="402336"/>
          </a:xfrm>
          <a:prstGeom prst="rect">
            <a:avLst/>
          </a:prstGeom>
          <a:noFill/>
        </p:spPr>
        <p:txBody>
          <a:bodyPr wrap="square" anchor="ctr" lIns="0" rIns="0" tIns="0" bIns="0">
            <a:spAutoFit/>
          </a:bodyPr>
          <a:lstStyle/>
          <a:p>
            <a:pPr algn="ctr">
              <a:lnSpc>
                <a:spcPct val="100000"/>
              </a:lnSpc>
              <a:spcBef>
                <a:spcPts val="0"/>
              </a:spcBef>
              <a:spcAft>
                <a:spcPts val="600"/>
              </a:spcAft>
            </a:pPr>
            <a:r>
              <a:rPr sz="1250" b="1">
                <a:solidFill>
                  <a:srgbClr val="FFFFFF"/>
                </a:solidFill>
                <a:latin typeface="Segoe UI"/>
              </a:rPr>
              <a:t>Rs. 2.0-2.5 lakh once</a:t>
            </a:r>
          </a:p>
        </p:txBody>
      </p:sp>
      <p:sp>
        <p:nvSpPr>
          <p:cNvPr id="10" name="Rectangle 9"/>
          <p:cNvSpPr/>
          <p:nvPr/>
        </p:nvSpPr>
        <p:spPr>
          <a:xfrm>
            <a:off x="82296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PROCESSOR</a:t>
            </a:r>
          </a:p>
        </p:txBody>
      </p:sp>
      <p:sp>
        <p:nvSpPr>
          <p:cNvPr id="12" name="TextBox 11"/>
          <p:cNvSpPr txBox="1"/>
          <p:nvPr/>
        </p:nvSpPr>
        <p:spPr>
          <a:xfrm>
            <a:off x="102412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8 core</a:t>
            </a:r>
            <a:r>
              <a:rPr sz="1150" b="0">
                <a:solidFill>
                  <a:srgbClr val="64748B"/>
                </a:solidFill>
                <a:latin typeface="Segoe UI"/>
              </a:rPr>
              <a:t>  vCPU</a:t>
            </a:r>
          </a:p>
        </p:txBody>
      </p:sp>
      <p:sp>
        <p:nvSpPr>
          <p:cNvPr id="13" name="Rectangle 12"/>
          <p:cNvSpPr/>
          <p:nvPr/>
        </p:nvSpPr>
        <p:spPr>
          <a:xfrm>
            <a:off x="352044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160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MEMORY</a:t>
            </a:r>
          </a:p>
        </p:txBody>
      </p:sp>
      <p:sp>
        <p:nvSpPr>
          <p:cNvPr id="15" name="TextBox 14"/>
          <p:cNvSpPr txBox="1"/>
          <p:nvPr/>
        </p:nvSpPr>
        <p:spPr>
          <a:xfrm>
            <a:off x="372160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32 GB</a:t>
            </a:r>
          </a:p>
        </p:txBody>
      </p:sp>
      <p:sp>
        <p:nvSpPr>
          <p:cNvPr id="16" name="Rectangle 15"/>
          <p:cNvSpPr/>
          <p:nvPr/>
        </p:nvSpPr>
        <p:spPr>
          <a:xfrm>
            <a:off x="621792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STORAGE</a:t>
            </a:r>
          </a:p>
        </p:txBody>
      </p:sp>
      <p:sp>
        <p:nvSpPr>
          <p:cNvPr id="18" name="TextBox 17"/>
          <p:cNvSpPr txBox="1"/>
          <p:nvPr/>
        </p:nvSpPr>
        <p:spPr>
          <a:xfrm>
            <a:off x="641908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2 x 960 GB</a:t>
            </a:r>
          </a:p>
        </p:txBody>
      </p:sp>
      <p:sp>
        <p:nvSpPr>
          <p:cNvPr id="19" name="Rectangle 18"/>
          <p:cNvSpPr/>
          <p:nvPr/>
        </p:nvSpPr>
        <p:spPr>
          <a:xfrm>
            <a:off x="8915400" y="1517904"/>
            <a:ext cx="2423160" cy="96012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8" y="1664208"/>
            <a:ext cx="2148840" cy="292608"/>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64748B"/>
                </a:solidFill>
                <a:latin typeface="Segoe UI"/>
              </a:rPr>
              <a:t>DATA TRANSFER</a:t>
            </a:r>
          </a:p>
        </p:txBody>
      </p:sp>
      <p:sp>
        <p:nvSpPr>
          <p:cNvPr id="21" name="TextBox 20"/>
          <p:cNvSpPr txBox="1"/>
          <p:nvPr/>
        </p:nvSpPr>
        <p:spPr>
          <a:xfrm>
            <a:off x="9116568" y="1975104"/>
            <a:ext cx="2148840" cy="457200"/>
          </a:xfrm>
          <a:prstGeom prst="rect">
            <a:avLst/>
          </a:prstGeom>
          <a:noFill/>
        </p:spPr>
        <p:txBody>
          <a:bodyPr wrap="square" anchor="t" lIns="0" rIns="0" tIns="0" bIns="0">
            <a:spAutoFit/>
          </a:bodyPr>
          <a:lstStyle/>
          <a:p>
            <a:pPr algn="l">
              <a:lnSpc>
                <a:spcPct val="100000"/>
              </a:lnSpc>
              <a:spcBef>
                <a:spcPts val="0"/>
              </a:spcBef>
              <a:spcAft>
                <a:spcPts val="600"/>
              </a:spcAft>
            </a:pPr>
            <a:r>
              <a:rPr sz="1900" b="1">
                <a:solidFill>
                  <a:srgbClr val="0F172A"/>
                </a:solidFill>
                <a:latin typeface="Segoe UI"/>
              </a:rPr>
              <a:t>Your line</a:t>
            </a:r>
            <a:r>
              <a:rPr sz="1150" b="0">
                <a:solidFill>
                  <a:srgbClr val="64748B"/>
                </a:solidFill>
                <a:latin typeface="Segoe UI"/>
              </a:rPr>
              <a:t>  / month</a:t>
            </a:r>
          </a:p>
        </p:txBody>
      </p:sp>
      <p:sp>
        <p:nvSpPr>
          <p:cNvPr id="22" name="Rounded Rectangle 21"/>
          <p:cNvSpPr/>
          <p:nvPr/>
        </p:nvSpPr>
        <p:spPr>
          <a:xfrm>
            <a:off x="822960" y="2734056"/>
            <a:ext cx="10561320" cy="841248"/>
          </a:xfrm>
          <a:prstGeom prst="round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734056"/>
            <a:ext cx="128016" cy="841248"/>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2862072"/>
            <a:ext cx="9966960" cy="310896"/>
          </a:xfrm>
          <a:prstGeom prst="rect">
            <a:avLst/>
          </a:prstGeom>
          <a:noFill/>
        </p:spPr>
        <p:txBody>
          <a:bodyPr wrap="square" anchor="t" lIns="0" rIns="0" tIns="0" bIns="0">
            <a:spAutoFit/>
          </a:bodyPr>
          <a:lstStyle/>
          <a:p>
            <a:pPr algn="l">
              <a:lnSpc>
                <a:spcPct val="100000"/>
              </a:lnSpc>
              <a:spcBef>
                <a:spcPts val="0"/>
              </a:spcBef>
              <a:spcAft>
                <a:spcPts val="600"/>
              </a:spcAft>
            </a:pPr>
            <a:r>
              <a:rPr sz="1350" b="1">
                <a:solidFill>
                  <a:srgbClr val="B45309"/>
                </a:solidFill>
                <a:latin typeface="Segoe UI"/>
              </a:rPr>
              <a:t>About Rs. 2.2 lakh once (with GST) plus Rs. 3,000-4,000 a month to run</a:t>
            </a:r>
          </a:p>
        </p:txBody>
      </p:sp>
      <p:sp>
        <p:nvSpPr>
          <p:cNvPr id="25" name="TextBox 24"/>
          <p:cNvSpPr txBox="1"/>
          <p:nvPr/>
        </p:nvSpPr>
        <p:spPr>
          <a:xfrm>
            <a:off x="1188720" y="3191256"/>
            <a:ext cx="9966960" cy="2743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0F172A"/>
                </a:solidFill>
                <a:latin typeface="Segoe UI"/>
              </a:rPr>
              <a:t>Spread over five years that works out to roughly Rs. 7,000 a month — but the machine is yours.</a:t>
            </a:r>
          </a:p>
        </p:txBody>
      </p:sp>
      <p:sp>
        <p:nvSpPr>
          <p:cNvPr id="26" name="Rectangle 25"/>
          <p:cNvSpPr/>
          <p:nvPr/>
        </p:nvSpPr>
        <p:spPr>
          <a:xfrm>
            <a:off x="82296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3767328"/>
            <a:ext cx="5166360" cy="50292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GOOD POINTS</a:t>
            </a:r>
          </a:p>
        </p:txBody>
      </p:sp>
      <p:sp>
        <p:nvSpPr>
          <p:cNvPr id="29" name="TextBox 28"/>
          <p:cNvSpPr txBox="1"/>
          <p:nvPr/>
        </p:nvSpPr>
        <p:spPr>
          <a:xfrm>
            <a:off x="111556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The hardware belongs to you and nothing leaves your building.</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No monthly rent to any cloud company.</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GST paid on the purchase can normally be claimed back.</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Far more power (8 cores, 32 GB) than any rented option at this price.</a:t>
            </a:r>
          </a:p>
          <a:p>
            <a:pPr algn="l" marL="146304" indent="-146304">
              <a:lnSpc>
                <a:spcPct val="106000"/>
              </a:lnSpc>
              <a:spcBef>
                <a:spcPts val="0"/>
              </a:spcBef>
              <a:spcAft>
                <a:spcPts val="500"/>
              </a:spcAft>
            </a:pPr>
            <a:r>
              <a:rPr sz="1150" b="1">
                <a:solidFill>
                  <a:srgbClr val="16A34A"/>
                </a:solidFill>
                <a:latin typeface="Segoe UI"/>
              </a:rPr>
              <a:t>•  </a:t>
            </a:r>
            <a:r>
              <a:rPr sz="1150" b="0">
                <a:solidFill>
                  <a:srgbClr val="0F172A"/>
                </a:solidFill>
                <a:latin typeface="Segoe UI"/>
              </a:rPr>
              <a:t>The strongest answer you can give to any privacy question.</a:t>
            </a:r>
          </a:p>
        </p:txBody>
      </p:sp>
      <p:sp>
        <p:nvSpPr>
          <p:cNvPr id="30" name="Rectangle 29"/>
          <p:cNvSpPr/>
          <p:nvPr/>
        </p:nvSpPr>
        <p:spPr>
          <a:xfrm>
            <a:off x="6217920" y="3767328"/>
            <a:ext cx="5166360" cy="2505456"/>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3767328"/>
            <a:ext cx="5166360" cy="5029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3767328"/>
            <a:ext cx="5166360" cy="502920"/>
          </a:xfrm>
          <a:prstGeom prst="rect">
            <a:avLst/>
          </a:prstGeom>
          <a:noFill/>
        </p:spPr>
        <p:txBody>
          <a:bodyPr wrap="square" anchor="ctr" lIns="0" rIns="0" tIns="0" bIns="0">
            <a:spAutoFit/>
          </a:bodyPr>
          <a:lstStyle/>
          <a:p>
            <a:pPr algn="ctr">
              <a:lnSpc>
                <a:spcPct val="100000"/>
              </a:lnSpc>
              <a:spcBef>
                <a:spcPts val="0"/>
              </a:spcBef>
              <a:spcAft>
                <a:spcPts val="600"/>
              </a:spcAft>
            </a:pPr>
            <a:r>
              <a:rPr sz="1400" b="1">
                <a:solidFill>
                  <a:srgbClr val="FFFFFF"/>
                </a:solidFill>
                <a:latin typeface="Segoe UI"/>
              </a:rPr>
              <a:t>THINGS TO WATCH</a:t>
            </a:r>
          </a:p>
        </p:txBody>
      </p:sp>
      <p:sp>
        <p:nvSpPr>
          <p:cNvPr id="33" name="TextBox 32"/>
          <p:cNvSpPr txBox="1"/>
          <p:nvPr/>
        </p:nvSpPr>
        <p:spPr>
          <a:xfrm>
            <a:off x="6510528" y="4407408"/>
            <a:ext cx="4599432" cy="1755648"/>
          </a:xfrm>
          <a:prstGeom prst="rect">
            <a:avLst/>
          </a:prstGeom>
          <a:noFill/>
        </p:spPr>
        <p:txBody>
          <a:bodyPr wrap="square" anchor="t" lIns="0" rIns="0" tIns="0" bIns="0">
            <a:spAutoFit/>
          </a:bodyPr>
          <a:lstStyle/>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Large amount to pay upfront.</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Needs a business internet line with a fixed IP address.</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If office power or internet fails, the office panel goes down. Gate phones keep working offline and sync later.</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You need a UPS, a cool clean room and a person responsible.</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A failed part means waiting for an engineer.</a:t>
            </a:r>
          </a:p>
          <a:p>
            <a:pPr algn="l" marL="146304" indent="-146304">
              <a:lnSpc>
                <a:spcPct val="106000"/>
              </a:lnSpc>
              <a:spcBef>
                <a:spcPts val="0"/>
              </a:spcBef>
              <a:spcAft>
                <a:spcPts val="500"/>
              </a:spcAft>
            </a:pPr>
            <a:r>
              <a:rPr sz="1150" b="1">
                <a:solidFill>
                  <a:srgbClr val="DC2626"/>
                </a:solidFill>
                <a:latin typeface="Segoe UI"/>
              </a:rPr>
              <a:t>•  </a:t>
            </a:r>
            <a:r>
              <a:rPr sz="1150" b="0">
                <a:solidFill>
                  <a:srgbClr val="0F172A"/>
                </a:solidFill>
                <a:latin typeface="Segoe UI"/>
              </a:rPr>
              <a:t>Backups, updates and monitoring become your team's job.</a:t>
            </a:r>
          </a:p>
        </p:txBody>
      </p:sp>
      <p:sp>
        <p:nvSpPr>
          <p:cNvPr id="34" name="TextBox 33"/>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5" name="TextBox 34"/>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DC2626"/>
                </a:solidFill>
                <a:latin typeface="Segoe UI"/>
              </a:rPr>
              <a:t>IMPORTANT</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0F172A"/>
                </a:solidFill>
                <a:latin typeface="Cambria"/>
              </a:rPr>
              <a:t>Where the data sits is not a small detail</a:t>
            </a:r>
          </a:p>
        </p:txBody>
      </p:sp>
      <p:sp>
        <p:nvSpPr>
          <p:cNvPr id="6" name="Rectangle 5"/>
          <p:cNvSpPr/>
          <p:nvPr/>
        </p:nvSpPr>
        <p:spPr>
          <a:xfrm>
            <a:off x="822960" y="1600200"/>
            <a:ext cx="5166360" cy="228600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00200"/>
            <a:ext cx="5166360" cy="8229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847088"/>
            <a:ext cx="4572000" cy="3657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0F172A"/>
                </a:solidFill>
                <a:latin typeface="Cambria"/>
              </a:rPr>
              <a:t>What CLAMS stores about people</a:t>
            </a:r>
          </a:p>
        </p:txBody>
      </p:sp>
      <p:sp>
        <p:nvSpPr>
          <p:cNvPr id="9" name="TextBox 8"/>
          <p:cNvSpPr txBox="1"/>
          <p:nvPr/>
        </p:nvSpPr>
        <p:spPr>
          <a:xfrm>
            <a:off x="1143000" y="2331720"/>
            <a:ext cx="4572000" cy="1463040"/>
          </a:xfrm>
          <a:prstGeom prst="rect">
            <a:avLst/>
          </a:prstGeom>
          <a:noFill/>
        </p:spPr>
        <p:txBody>
          <a:bodyPr wrap="square" anchor="t" lIns="0" rIns="0" tIns="0" bIns="0">
            <a:spAutoFit/>
          </a:bodyPr>
          <a:lstStyle/>
          <a:p>
            <a:pPr algn="l">
              <a:lnSpc>
                <a:spcPct val="110000"/>
              </a:lnSpc>
              <a:spcBef>
                <a:spcPts val="0"/>
              </a:spcBef>
              <a:spcAft>
                <a:spcPts val="800"/>
              </a:spcAft>
            </a:pPr>
            <a:r>
              <a:rPr sz="1250" b="1">
                <a:solidFill>
                  <a:srgbClr val="DC2626"/>
                </a:solidFill>
                <a:latin typeface="Segoe UI"/>
              </a:rPr>
              <a:t>•  </a:t>
            </a:r>
            <a:r>
              <a:rPr sz="1250" b="0">
                <a:solidFill>
                  <a:srgbClr val="0F172A"/>
                </a:solidFill>
                <a:latin typeface="Segoe UI"/>
              </a:rPr>
              <a:t>Aadhaar numbers and photos of Aadhaar cards</a:t>
            </a:r>
          </a:p>
          <a:p>
            <a:pPr algn="l">
              <a:lnSpc>
                <a:spcPct val="110000"/>
              </a:lnSpc>
              <a:spcBef>
                <a:spcPts val="0"/>
              </a:spcBef>
              <a:spcAft>
                <a:spcPts val="800"/>
              </a:spcAft>
            </a:pPr>
            <a:r>
              <a:rPr sz="1250" b="1">
                <a:solidFill>
                  <a:srgbClr val="DC2626"/>
                </a:solidFill>
                <a:latin typeface="Segoe UI"/>
              </a:rPr>
              <a:t>•  </a:t>
            </a:r>
            <a:r>
              <a:rPr sz="1250" b="0">
                <a:solidFill>
                  <a:srgbClr val="0F172A"/>
                </a:solidFill>
                <a:latin typeface="Segoe UI"/>
              </a:rPr>
              <a:t>PAN, bank account and IFSC details</a:t>
            </a:r>
          </a:p>
          <a:p>
            <a:pPr algn="l">
              <a:lnSpc>
                <a:spcPct val="110000"/>
              </a:lnSpc>
              <a:spcBef>
                <a:spcPts val="0"/>
              </a:spcBef>
              <a:spcAft>
                <a:spcPts val="800"/>
              </a:spcAft>
            </a:pPr>
            <a:r>
              <a:rPr sz="1250" b="1">
                <a:solidFill>
                  <a:srgbClr val="DC2626"/>
                </a:solidFill>
                <a:latin typeface="Segoe UI"/>
              </a:rPr>
              <a:t>•  </a:t>
            </a:r>
            <a:r>
              <a:rPr sz="1250" b="0">
                <a:solidFill>
                  <a:srgbClr val="0F172A"/>
                </a:solidFill>
                <a:latin typeface="Segoe UI"/>
              </a:rPr>
              <a:t>Worker photographs and emergency contacts</a:t>
            </a:r>
          </a:p>
          <a:p>
            <a:pPr algn="l">
              <a:lnSpc>
                <a:spcPct val="110000"/>
              </a:lnSpc>
              <a:spcBef>
                <a:spcPts val="0"/>
              </a:spcBef>
              <a:spcAft>
                <a:spcPts val="800"/>
              </a:spcAft>
            </a:pPr>
            <a:r>
              <a:rPr sz="1250" b="1">
                <a:solidFill>
                  <a:srgbClr val="DC2626"/>
                </a:solidFill>
                <a:latin typeface="Segoe UI"/>
              </a:rPr>
              <a:t>•  </a:t>
            </a:r>
            <a:r>
              <a:rPr sz="1250" b="0">
                <a:solidFill>
                  <a:srgbClr val="0F172A"/>
                </a:solidFill>
                <a:latin typeface="Segoe UI"/>
              </a:rPr>
              <a:t>Where each person was, and when</a:t>
            </a:r>
          </a:p>
        </p:txBody>
      </p:sp>
      <p:sp>
        <p:nvSpPr>
          <p:cNvPr id="10" name="Rectangle 9"/>
          <p:cNvSpPr/>
          <p:nvPr/>
        </p:nvSpPr>
        <p:spPr>
          <a:xfrm>
            <a:off x="6217920" y="1600200"/>
            <a:ext cx="5166360" cy="2286000"/>
          </a:xfrm>
          <a:prstGeom prst="rect">
            <a:avLst/>
          </a:prstGeom>
          <a:solidFill>
            <a:srgbClr val="FFFFFF"/>
          </a:solidFill>
          <a:ln w="12700">
            <a:solidFill>
              <a:srgbClr val="E2E8F0"/>
            </a:solidFill>
          </a:ln>
          <a:effectLst/>
          <a:effectLst>
            <a:outerShdw blurRad="90000" dist="38000" dir="5400000" rotWithShape="0">
              <a:srgbClr val="1E293B">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600200"/>
            <a:ext cx="5166360" cy="822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847088"/>
            <a:ext cx="4572000" cy="365760"/>
          </a:xfrm>
          <a:prstGeom prst="rect">
            <a:avLst/>
          </a:prstGeom>
          <a:noFill/>
        </p:spPr>
        <p:txBody>
          <a:bodyPr wrap="square" anchor="t" lIns="0" rIns="0" tIns="0" bIns="0">
            <a:spAutoFit/>
          </a:bodyPr>
          <a:lstStyle/>
          <a:p>
            <a:pPr algn="l">
              <a:lnSpc>
                <a:spcPct val="100000"/>
              </a:lnSpc>
              <a:spcBef>
                <a:spcPts val="0"/>
              </a:spcBef>
              <a:spcAft>
                <a:spcPts val="600"/>
              </a:spcAft>
            </a:pPr>
            <a:r>
              <a:rPr sz="1700" b="1">
                <a:solidFill>
                  <a:srgbClr val="0F172A"/>
                </a:solidFill>
                <a:latin typeface="Cambria"/>
              </a:rPr>
              <a:t>How CLAMS already protects it</a:t>
            </a:r>
          </a:p>
        </p:txBody>
      </p:sp>
      <p:sp>
        <p:nvSpPr>
          <p:cNvPr id="13" name="TextBox 12"/>
          <p:cNvSpPr txBox="1"/>
          <p:nvPr/>
        </p:nvSpPr>
        <p:spPr>
          <a:xfrm>
            <a:off x="6537960" y="2331720"/>
            <a:ext cx="4572000" cy="1463040"/>
          </a:xfrm>
          <a:prstGeom prst="rect">
            <a:avLst/>
          </a:prstGeom>
          <a:noFill/>
        </p:spPr>
        <p:txBody>
          <a:bodyPr wrap="square" anchor="t" lIns="0" rIns="0" tIns="0" bIns="0">
            <a:spAutoFit/>
          </a:bodyPr>
          <a:lstStyle/>
          <a:p>
            <a:pPr algn="l">
              <a:lnSpc>
                <a:spcPct val="110000"/>
              </a:lnSpc>
              <a:spcBef>
                <a:spcPts val="0"/>
              </a:spcBef>
              <a:spcAft>
                <a:spcPts val="800"/>
              </a:spcAft>
            </a:pPr>
            <a:r>
              <a:rPr sz="1250" b="1">
                <a:solidFill>
                  <a:srgbClr val="16A34A"/>
                </a:solidFill>
                <a:latin typeface="Segoe UI"/>
              </a:rPr>
              <a:t>•  </a:t>
            </a:r>
            <a:r>
              <a:rPr sz="1250" b="0">
                <a:solidFill>
                  <a:srgbClr val="0F172A"/>
                </a:solidFill>
                <a:latin typeface="Segoe UI"/>
              </a:rPr>
              <a:t>Aadhaar, PAN and bank fields are encrypted on disk</a:t>
            </a:r>
          </a:p>
          <a:p>
            <a:pPr algn="l">
              <a:lnSpc>
                <a:spcPct val="110000"/>
              </a:lnSpc>
              <a:spcBef>
                <a:spcPts val="0"/>
              </a:spcBef>
              <a:spcAft>
                <a:spcPts val="800"/>
              </a:spcAft>
            </a:pPr>
            <a:r>
              <a:rPr sz="1250" b="1">
                <a:solidFill>
                  <a:srgbClr val="16A34A"/>
                </a:solidFill>
                <a:latin typeface="Segoe UI"/>
              </a:rPr>
              <a:t>•  </a:t>
            </a:r>
            <a:r>
              <a:rPr sz="1250" b="0">
                <a:solidFill>
                  <a:srgbClr val="0F172A"/>
                </a:solidFill>
                <a:latin typeface="Segoe UI"/>
              </a:rPr>
              <a:t>Only senior roles can reveal them, and every look is logged</a:t>
            </a:r>
          </a:p>
          <a:p>
            <a:pPr algn="l">
              <a:lnSpc>
                <a:spcPct val="110000"/>
              </a:lnSpc>
              <a:spcBef>
                <a:spcPts val="0"/>
              </a:spcBef>
              <a:spcAft>
                <a:spcPts val="800"/>
              </a:spcAft>
            </a:pPr>
            <a:r>
              <a:rPr sz="1250" b="1">
                <a:solidFill>
                  <a:srgbClr val="16A34A"/>
                </a:solidFill>
                <a:latin typeface="Segoe UI"/>
              </a:rPr>
              <a:t>•  </a:t>
            </a:r>
            <a:r>
              <a:rPr sz="1250" b="0">
                <a:solidFill>
                  <a:srgbClr val="0F172A"/>
                </a:solidFill>
                <a:latin typeface="Segoe UI"/>
              </a:rPr>
              <a:t>The ID cards themselves carry no personal data</a:t>
            </a:r>
          </a:p>
          <a:p>
            <a:pPr algn="l">
              <a:lnSpc>
                <a:spcPct val="110000"/>
              </a:lnSpc>
              <a:spcBef>
                <a:spcPts val="0"/>
              </a:spcBef>
              <a:spcAft>
                <a:spcPts val="800"/>
              </a:spcAft>
            </a:pPr>
            <a:r>
              <a:rPr sz="1250" b="1">
                <a:solidFill>
                  <a:srgbClr val="16A34A"/>
                </a:solidFill>
                <a:latin typeface="Segoe UI"/>
              </a:rPr>
              <a:t>•  </a:t>
            </a:r>
            <a:r>
              <a:rPr sz="1250" b="0">
                <a:solidFill>
                  <a:srgbClr val="0F172A"/>
                </a:solidFill>
                <a:latin typeface="Segoe UI"/>
              </a:rPr>
              <a:t>Every change is recorded with who, what and when</a:t>
            </a:r>
          </a:p>
        </p:txBody>
      </p:sp>
      <p:sp>
        <p:nvSpPr>
          <p:cNvPr id="14" name="Rectangle 13"/>
          <p:cNvSpPr/>
          <p:nvPr/>
        </p:nvSpPr>
        <p:spPr>
          <a:xfrm>
            <a:off x="822960" y="4069080"/>
            <a:ext cx="10561320" cy="1417320"/>
          </a:xfrm>
          <a:prstGeom prst="rect">
            <a:avLst/>
          </a:prstGeom>
          <a:solidFill>
            <a:srgbClr val="0A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069080"/>
            <a:ext cx="128016"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4297680"/>
            <a:ext cx="9784080" cy="1005840"/>
          </a:xfrm>
          <a:prstGeom prst="rect">
            <a:avLst/>
          </a:prstGeom>
          <a:noFill/>
        </p:spPr>
        <p:txBody>
          <a:bodyPr wrap="square" anchor="t" lIns="0" rIns="0" tIns="0" bIns="0">
            <a:spAutoFit/>
          </a:bodyPr>
          <a:lstStyle/>
          <a:p>
            <a:pPr algn="l">
              <a:lnSpc>
                <a:spcPct val="120000"/>
              </a:lnSpc>
              <a:spcBef>
                <a:spcPts val="0"/>
              </a:spcBef>
              <a:spcAft>
                <a:spcPts val="800"/>
              </a:spcAft>
            </a:pPr>
            <a:r>
              <a:rPr sz="1700" b="1">
                <a:solidFill>
                  <a:srgbClr val="F59E0B"/>
                </a:solidFill>
                <a:latin typeface="Cambria"/>
              </a:rPr>
              <a:t>Our recommendation: keep the server in India.</a:t>
            </a:r>
          </a:p>
          <a:p>
            <a:pPr algn="l">
              <a:lnSpc>
                <a:spcPct val="120000"/>
              </a:lnSpc>
              <a:spcBef>
                <a:spcPts val="0"/>
              </a:spcBef>
              <a:spcAft>
                <a:spcPts val="800"/>
              </a:spcAft>
            </a:pPr>
            <a:r>
              <a:rPr sz="1250" b="0">
                <a:solidFill>
                  <a:srgbClr val="FFFFFF"/>
                </a:solidFill>
                <a:latin typeface="Segoe UI"/>
              </a:rPr>
              <a:t>India's Digital Personal Data Protection Act allows the government to restrict sending personal data to certain countries, and Aadhaar information is expected to stay in India. Eight of the nine options above have an Indian data centre. Hetzner does not — which is why we have marked it as not recommended, despite its price.</a:t>
            </a:r>
          </a:p>
        </p:txBody>
      </p:sp>
      <p:sp>
        <p:nvSpPr>
          <p:cNvPr id="17" name="TextBox 16"/>
          <p:cNvSpPr txBox="1"/>
          <p:nvPr/>
        </p:nvSpPr>
        <p:spPr>
          <a:xfrm>
            <a:off x="822960" y="5715000"/>
            <a:ext cx="10561320" cy="502920"/>
          </a:xfrm>
          <a:prstGeom prst="rect">
            <a:avLst/>
          </a:prstGeom>
          <a:noFill/>
        </p:spPr>
        <p:txBody>
          <a:bodyPr wrap="square" anchor="t" lIns="0" rIns="0" tIns="0" bIns="0">
            <a:spAutoFit/>
          </a:bodyPr>
          <a:lstStyle/>
          <a:p>
            <a:pPr algn="l">
              <a:lnSpc>
                <a:spcPct val="100000"/>
              </a:lnSpc>
              <a:spcBef>
                <a:spcPts val="0"/>
              </a:spcBef>
              <a:spcAft>
                <a:spcPts val="600"/>
              </a:spcAft>
            </a:pPr>
            <a:r>
              <a:rPr sz="1150" b="0">
                <a:solidFill>
                  <a:srgbClr val="64748B"/>
                </a:solidFill>
                <a:latin typeface="Segoe UI"/>
              </a:rPr>
              <a:t>This is practical guidance from an engineering point of view, not legal advice. Please have your compliance advisor confirm it before you sign anything.</a:t>
            </a:r>
          </a:p>
        </p:txBody>
      </p:sp>
      <p:sp>
        <p:nvSpPr>
          <p:cNvPr id="18" name="TextBox 17"/>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19" name="TextBox 18"/>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SO NOTHING IS HIDDEN</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0F172A"/>
                </a:solidFill>
                <a:latin typeface="Cambria"/>
              </a:rPr>
              <a:t>What else you pay for, besides the server</a:t>
            </a:r>
          </a:p>
        </p:txBody>
      </p:sp>
      <p:sp>
        <p:nvSpPr>
          <p:cNvPr id="6" name="TextBox 5"/>
          <p:cNvSpPr txBox="1"/>
          <p:nvPr/>
        </p:nvSpPr>
        <p:spPr>
          <a:xfrm>
            <a:off x="822960" y="1463040"/>
            <a:ext cx="10607040" cy="310896"/>
          </a:xfrm>
          <a:prstGeom prst="rect">
            <a:avLst/>
          </a:prstGeom>
          <a:noFill/>
        </p:spPr>
        <p:txBody>
          <a:bodyPr wrap="square" anchor="t" lIns="0" rIns="0" tIns="0" bIns="0">
            <a:spAutoFit/>
          </a:bodyPr>
          <a:lstStyle/>
          <a:p>
            <a:pPr algn="l">
              <a:lnSpc>
                <a:spcPct val="100000"/>
              </a:lnSpc>
              <a:spcBef>
                <a:spcPts val="0"/>
              </a:spcBef>
              <a:spcAft>
                <a:spcPts val="600"/>
              </a:spcAft>
            </a:pPr>
            <a:r>
              <a:rPr sz="1200" b="0">
                <a:solidFill>
                  <a:srgbClr val="64748B"/>
                </a:solidFill>
                <a:latin typeface="Segoe UI"/>
              </a:rPr>
              <a:t>Budget roughly Rs. 500 - 2,000 a month on top of the server price for a well-run setup, whichever option you pick.</a:t>
            </a:r>
          </a:p>
        </p:txBody>
      </p:sp>
      <p:sp>
        <p:nvSpPr>
          <p:cNvPr id="7" name="Rectangle 6"/>
          <p:cNvSpPr/>
          <p:nvPr/>
        </p:nvSpPr>
        <p:spPr>
          <a:xfrm>
            <a:off x="822960" y="1874519"/>
            <a:ext cx="1056132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874519"/>
            <a:ext cx="82296"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874519"/>
            <a:ext cx="28346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400" b="1">
                <a:solidFill>
                  <a:srgbClr val="0F172A"/>
                </a:solidFill>
                <a:latin typeface="Segoe UI"/>
              </a:rPr>
              <a:t>Domain name</a:t>
            </a:r>
          </a:p>
        </p:txBody>
      </p:sp>
      <p:sp>
        <p:nvSpPr>
          <p:cNvPr id="10" name="TextBox 9"/>
          <p:cNvSpPr txBox="1"/>
          <p:nvPr/>
        </p:nvSpPr>
        <p:spPr>
          <a:xfrm>
            <a:off x="4069080" y="1874519"/>
            <a:ext cx="228600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F59E0B"/>
                </a:solidFill>
                <a:latin typeface="Segoe UI"/>
              </a:rPr>
              <a:t>Rs. 900 - 1,500 a year</a:t>
            </a:r>
          </a:p>
        </p:txBody>
      </p:sp>
      <p:sp>
        <p:nvSpPr>
          <p:cNvPr id="11" name="TextBox 10"/>
          <p:cNvSpPr txBox="1"/>
          <p:nvPr/>
        </p:nvSpPr>
        <p:spPr>
          <a:xfrm>
            <a:off x="6400800" y="1874519"/>
            <a:ext cx="4846320" cy="658368"/>
          </a:xfrm>
          <a:prstGeom prst="rect">
            <a:avLst/>
          </a:prstGeom>
          <a:noFill/>
        </p:spPr>
        <p:txBody>
          <a:bodyPr wrap="square" anchor="ctr" lIns="0" rIns="0" tIns="0" bIns="0">
            <a:spAutoFit/>
          </a:bodyPr>
          <a:lstStyle/>
          <a:p>
            <a:pPr algn="l">
              <a:lnSpc>
                <a:spcPct val="110000"/>
              </a:lnSpc>
              <a:spcBef>
                <a:spcPts val="0"/>
              </a:spcBef>
              <a:spcAft>
                <a:spcPts val="600"/>
              </a:spcAft>
            </a:pPr>
            <a:r>
              <a:rPr sz="1150" b="0">
                <a:solidFill>
                  <a:srgbClr val="64748B"/>
                </a:solidFill>
                <a:latin typeface="Segoe UI"/>
              </a:rPr>
              <a:t>Something like clams.yourcompany.com.</a:t>
            </a:r>
          </a:p>
        </p:txBody>
      </p:sp>
      <p:sp>
        <p:nvSpPr>
          <p:cNvPr id="12" name="Rectangle 11"/>
          <p:cNvSpPr/>
          <p:nvPr/>
        </p:nvSpPr>
        <p:spPr>
          <a:xfrm>
            <a:off x="822960" y="2606039"/>
            <a:ext cx="1056132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2606039"/>
            <a:ext cx="82296" cy="6583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606039"/>
            <a:ext cx="28346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400" b="1">
                <a:solidFill>
                  <a:srgbClr val="0F172A"/>
                </a:solidFill>
                <a:latin typeface="Segoe UI"/>
              </a:rPr>
              <a:t>HTTPS certificate</a:t>
            </a:r>
          </a:p>
        </p:txBody>
      </p:sp>
      <p:sp>
        <p:nvSpPr>
          <p:cNvPr id="15" name="TextBox 14"/>
          <p:cNvSpPr txBox="1"/>
          <p:nvPr/>
        </p:nvSpPr>
        <p:spPr>
          <a:xfrm>
            <a:off x="4069080" y="2606039"/>
            <a:ext cx="228600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6A34A"/>
                </a:solidFill>
                <a:latin typeface="Segoe UI"/>
              </a:rPr>
              <a:t>Free</a:t>
            </a:r>
          </a:p>
        </p:txBody>
      </p:sp>
      <p:sp>
        <p:nvSpPr>
          <p:cNvPr id="16" name="TextBox 15"/>
          <p:cNvSpPr txBox="1"/>
          <p:nvPr/>
        </p:nvSpPr>
        <p:spPr>
          <a:xfrm>
            <a:off x="6400800" y="2606039"/>
            <a:ext cx="4846320" cy="658368"/>
          </a:xfrm>
          <a:prstGeom prst="rect">
            <a:avLst/>
          </a:prstGeom>
          <a:noFill/>
        </p:spPr>
        <p:txBody>
          <a:bodyPr wrap="square" anchor="ctr" lIns="0" rIns="0" tIns="0" bIns="0">
            <a:spAutoFit/>
          </a:bodyPr>
          <a:lstStyle/>
          <a:p>
            <a:pPr algn="l">
              <a:lnSpc>
                <a:spcPct val="110000"/>
              </a:lnSpc>
              <a:spcBef>
                <a:spcPts val="0"/>
              </a:spcBef>
              <a:spcAft>
                <a:spcPts val="600"/>
              </a:spcAft>
            </a:pPr>
            <a:r>
              <a:rPr sz="1150" b="0">
                <a:solidFill>
                  <a:srgbClr val="64748B"/>
                </a:solidFill>
                <a:latin typeface="Segoe UI"/>
              </a:rPr>
              <a:t>Renews automatically. No cost, ever.</a:t>
            </a:r>
          </a:p>
        </p:txBody>
      </p:sp>
      <p:sp>
        <p:nvSpPr>
          <p:cNvPr id="17" name="Rectangle 16"/>
          <p:cNvSpPr/>
          <p:nvPr/>
        </p:nvSpPr>
        <p:spPr>
          <a:xfrm>
            <a:off x="822960" y="3337559"/>
            <a:ext cx="1056132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3337559"/>
            <a:ext cx="82296" cy="6583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337559"/>
            <a:ext cx="28346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400" b="1">
                <a:solidFill>
                  <a:srgbClr val="0F172A"/>
                </a:solidFill>
                <a:latin typeface="Segoe UI"/>
              </a:rPr>
              <a:t>Daily backups</a:t>
            </a:r>
          </a:p>
        </p:txBody>
      </p:sp>
      <p:sp>
        <p:nvSpPr>
          <p:cNvPr id="20" name="TextBox 19"/>
          <p:cNvSpPr txBox="1"/>
          <p:nvPr/>
        </p:nvSpPr>
        <p:spPr>
          <a:xfrm>
            <a:off x="4069080" y="3337559"/>
            <a:ext cx="228600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2563EB"/>
                </a:solidFill>
                <a:latin typeface="Segoe UI"/>
              </a:rPr>
              <a:t>Rs. 0 - 1,600 a month</a:t>
            </a:r>
          </a:p>
        </p:txBody>
      </p:sp>
      <p:sp>
        <p:nvSpPr>
          <p:cNvPr id="21" name="TextBox 20"/>
          <p:cNvSpPr txBox="1"/>
          <p:nvPr/>
        </p:nvSpPr>
        <p:spPr>
          <a:xfrm>
            <a:off x="6400800" y="3337559"/>
            <a:ext cx="4846320" cy="658368"/>
          </a:xfrm>
          <a:prstGeom prst="rect">
            <a:avLst/>
          </a:prstGeom>
          <a:noFill/>
        </p:spPr>
        <p:txBody>
          <a:bodyPr wrap="square" anchor="ctr" lIns="0" rIns="0" tIns="0" bIns="0">
            <a:spAutoFit/>
          </a:bodyPr>
          <a:lstStyle/>
          <a:p>
            <a:pPr algn="l">
              <a:lnSpc>
                <a:spcPct val="110000"/>
              </a:lnSpc>
              <a:spcBef>
                <a:spcPts val="0"/>
              </a:spcBef>
              <a:spcAft>
                <a:spcPts val="600"/>
              </a:spcAft>
            </a:pPr>
            <a:r>
              <a:rPr sz="1150" b="0">
                <a:solidFill>
                  <a:srgbClr val="64748B"/>
                </a:solidFill>
                <a:latin typeface="Segoe UI"/>
              </a:rPr>
              <a:t>Free on Hostinger (weekly). 20-30% extra on DigitalOcean and Akamai. Charged per GB on AWS, Azure and Google.</a:t>
            </a:r>
          </a:p>
        </p:txBody>
      </p:sp>
      <p:sp>
        <p:nvSpPr>
          <p:cNvPr id="22" name="Rectangle 21"/>
          <p:cNvSpPr/>
          <p:nvPr/>
        </p:nvSpPr>
        <p:spPr>
          <a:xfrm>
            <a:off x="822960" y="4069079"/>
            <a:ext cx="1056132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4069079"/>
            <a:ext cx="82296" cy="658368"/>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069079"/>
            <a:ext cx="28346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400" b="1">
                <a:solidFill>
                  <a:srgbClr val="0F172A"/>
                </a:solidFill>
                <a:latin typeface="Segoe UI"/>
              </a:rPr>
              <a:t>Email for OTP and alerts</a:t>
            </a:r>
          </a:p>
        </p:txBody>
      </p:sp>
      <p:sp>
        <p:nvSpPr>
          <p:cNvPr id="25" name="TextBox 24"/>
          <p:cNvSpPr txBox="1"/>
          <p:nvPr/>
        </p:nvSpPr>
        <p:spPr>
          <a:xfrm>
            <a:off x="4069080" y="4069079"/>
            <a:ext cx="228600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0E9488"/>
                </a:solidFill>
                <a:latin typeface="Segoe UI"/>
              </a:rPr>
              <a:t>Free to Rs. 800 a month</a:t>
            </a:r>
          </a:p>
        </p:txBody>
      </p:sp>
      <p:sp>
        <p:nvSpPr>
          <p:cNvPr id="26" name="TextBox 25"/>
          <p:cNvSpPr txBox="1"/>
          <p:nvPr/>
        </p:nvSpPr>
        <p:spPr>
          <a:xfrm>
            <a:off x="6400800" y="4069079"/>
            <a:ext cx="4846320" cy="658368"/>
          </a:xfrm>
          <a:prstGeom prst="rect">
            <a:avLst/>
          </a:prstGeom>
          <a:noFill/>
        </p:spPr>
        <p:txBody>
          <a:bodyPr wrap="square" anchor="ctr" lIns="0" rIns="0" tIns="0" bIns="0">
            <a:spAutoFit/>
          </a:bodyPr>
          <a:lstStyle/>
          <a:p>
            <a:pPr algn="l">
              <a:lnSpc>
                <a:spcPct val="110000"/>
              </a:lnSpc>
              <a:spcBef>
                <a:spcPts val="0"/>
              </a:spcBef>
              <a:spcAft>
                <a:spcPts val="600"/>
              </a:spcAft>
            </a:pPr>
            <a:r>
              <a:rPr sz="1150" b="0">
                <a:solidFill>
                  <a:srgbClr val="64748B"/>
                </a:solidFill>
                <a:latin typeface="Segoe UI"/>
              </a:rPr>
              <a:t>The free tiers are usually enough for password resets and SOS emails.</a:t>
            </a:r>
          </a:p>
        </p:txBody>
      </p:sp>
      <p:sp>
        <p:nvSpPr>
          <p:cNvPr id="27" name="Rectangle 26"/>
          <p:cNvSpPr/>
          <p:nvPr/>
        </p:nvSpPr>
        <p:spPr>
          <a:xfrm>
            <a:off x="822960" y="4800599"/>
            <a:ext cx="1056132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4800599"/>
            <a:ext cx="82296" cy="6583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4800599"/>
            <a:ext cx="28346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400" b="1">
                <a:solidFill>
                  <a:srgbClr val="0F172A"/>
                </a:solidFill>
                <a:latin typeface="Segoe UI"/>
              </a:rPr>
              <a:t>SOS push notifications</a:t>
            </a:r>
          </a:p>
        </p:txBody>
      </p:sp>
      <p:sp>
        <p:nvSpPr>
          <p:cNvPr id="30" name="TextBox 29"/>
          <p:cNvSpPr txBox="1"/>
          <p:nvPr/>
        </p:nvSpPr>
        <p:spPr>
          <a:xfrm>
            <a:off x="4069080" y="4800599"/>
            <a:ext cx="228600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16A34A"/>
                </a:solidFill>
                <a:latin typeface="Segoe UI"/>
              </a:rPr>
              <a:t>Free</a:t>
            </a:r>
          </a:p>
        </p:txBody>
      </p:sp>
      <p:sp>
        <p:nvSpPr>
          <p:cNvPr id="31" name="TextBox 30"/>
          <p:cNvSpPr txBox="1"/>
          <p:nvPr/>
        </p:nvSpPr>
        <p:spPr>
          <a:xfrm>
            <a:off x="6400800" y="4800599"/>
            <a:ext cx="4846320" cy="658368"/>
          </a:xfrm>
          <a:prstGeom prst="rect">
            <a:avLst/>
          </a:prstGeom>
          <a:noFill/>
        </p:spPr>
        <p:txBody>
          <a:bodyPr wrap="square" anchor="ctr" lIns="0" rIns="0" tIns="0" bIns="0">
            <a:spAutoFit/>
          </a:bodyPr>
          <a:lstStyle/>
          <a:p>
            <a:pPr algn="l">
              <a:lnSpc>
                <a:spcPct val="110000"/>
              </a:lnSpc>
              <a:spcBef>
                <a:spcPts val="0"/>
              </a:spcBef>
              <a:spcAft>
                <a:spcPts val="600"/>
              </a:spcAft>
            </a:pPr>
            <a:r>
              <a:rPr sz="1150" b="0">
                <a:solidFill>
                  <a:srgbClr val="64748B"/>
                </a:solidFill>
                <a:latin typeface="Segoe UI"/>
              </a:rPr>
              <a:t>Firebase covers our volume at no charge.</a:t>
            </a:r>
          </a:p>
        </p:txBody>
      </p:sp>
      <p:sp>
        <p:nvSpPr>
          <p:cNvPr id="32" name="Rectangle 31"/>
          <p:cNvSpPr/>
          <p:nvPr/>
        </p:nvSpPr>
        <p:spPr>
          <a:xfrm>
            <a:off x="822960" y="5532119"/>
            <a:ext cx="10561320"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 y="5532119"/>
            <a:ext cx="82296" cy="658368"/>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88720" y="5532119"/>
            <a:ext cx="2834640" cy="658368"/>
          </a:xfrm>
          <a:prstGeom prst="rect">
            <a:avLst/>
          </a:prstGeom>
          <a:noFill/>
        </p:spPr>
        <p:txBody>
          <a:bodyPr wrap="square" anchor="ctr" lIns="0" rIns="0" tIns="0" bIns="0">
            <a:spAutoFit/>
          </a:bodyPr>
          <a:lstStyle/>
          <a:p>
            <a:pPr algn="l">
              <a:lnSpc>
                <a:spcPct val="100000"/>
              </a:lnSpc>
              <a:spcBef>
                <a:spcPts val="0"/>
              </a:spcBef>
              <a:spcAft>
                <a:spcPts val="600"/>
              </a:spcAft>
            </a:pPr>
            <a:r>
              <a:rPr sz="1400" b="1">
                <a:solidFill>
                  <a:srgbClr val="0F172A"/>
                </a:solidFill>
                <a:latin typeface="Segoe UI"/>
              </a:rPr>
              <a:t>Looking after the server</a:t>
            </a:r>
          </a:p>
        </p:txBody>
      </p:sp>
      <p:sp>
        <p:nvSpPr>
          <p:cNvPr id="35" name="TextBox 34"/>
          <p:cNvSpPr txBox="1"/>
          <p:nvPr/>
        </p:nvSpPr>
        <p:spPr>
          <a:xfrm>
            <a:off x="4069080" y="5532119"/>
            <a:ext cx="2286000" cy="658368"/>
          </a:xfrm>
          <a:prstGeom prst="rect">
            <a:avLst/>
          </a:prstGeom>
          <a:noFill/>
        </p:spPr>
        <p:txBody>
          <a:bodyPr wrap="square" anchor="ctr" lIns="0" rIns="0" tIns="0" bIns="0">
            <a:spAutoFit/>
          </a:bodyPr>
          <a:lstStyle/>
          <a:p>
            <a:pPr algn="l">
              <a:lnSpc>
                <a:spcPct val="100000"/>
              </a:lnSpc>
              <a:spcBef>
                <a:spcPts val="0"/>
              </a:spcBef>
              <a:spcAft>
                <a:spcPts val="600"/>
              </a:spcAft>
            </a:pPr>
            <a:r>
              <a:rPr sz="1300" b="1">
                <a:solidFill>
                  <a:srgbClr val="714BD1"/>
                </a:solidFill>
                <a:latin typeface="Segoe UI"/>
              </a:rPr>
              <a:t>By agreement</a:t>
            </a:r>
          </a:p>
        </p:txBody>
      </p:sp>
      <p:sp>
        <p:nvSpPr>
          <p:cNvPr id="36" name="TextBox 35"/>
          <p:cNvSpPr txBox="1"/>
          <p:nvPr/>
        </p:nvSpPr>
        <p:spPr>
          <a:xfrm>
            <a:off x="6400800" y="5532119"/>
            <a:ext cx="4846320" cy="658368"/>
          </a:xfrm>
          <a:prstGeom prst="rect">
            <a:avLst/>
          </a:prstGeom>
          <a:noFill/>
        </p:spPr>
        <p:txBody>
          <a:bodyPr wrap="square" anchor="ctr" lIns="0" rIns="0" tIns="0" bIns="0">
            <a:spAutoFit/>
          </a:bodyPr>
          <a:lstStyle/>
          <a:p>
            <a:pPr algn="l">
              <a:lnSpc>
                <a:spcPct val="110000"/>
              </a:lnSpc>
              <a:spcBef>
                <a:spcPts val="0"/>
              </a:spcBef>
              <a:spcAft>
                <a:spcPts val="600"/>
              </a:spcAft>
            </a:pPr>
            <a:r>
              <a:rPr sz="1150" b="0">
                <a:solidFill>
                  <a:srgbClr val="64748B"/>
                </a:solidFill>
                <a:latin typeface="Segoe UI"/>
              </a:rPr>
              <a:t>Security updates, monitoring, restore tests and help when something breaks. We can do this under a support agreement.</a:t>
            </a:r>
          </a:p>
        </p:txBody>
      </p:sp>
      <p:sp>
        <p:nvSpPr>
          <p:cNvPr id="37" name="TextBox 36"/>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8" name="TextBox 37"/>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566928"/>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OUR RECOMMENDATION</a:t>
            </a:r>
          </a:p>
        </p:txBody>
      </p:sp>
      <p:sp>
        <p:nvSpPr>
          <p:cNvPr id="5" name="TextBox 4"/>
          <p:cNvSpPr txBox="1"/>
          <p:nvPr/>
        </p:nvSpPr>
        <p:spPr>
          <a:xfrm>
            <a:off x="1051560" y="932688"/>
            <a:ext cx="9601200" cy="73152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FFFFFF"/>
                </a:solidFill>
                <a:latin typeface="Cambria"/>
              </a:rPr>
              <a:t>What we would choose, and why</a:t>
            </a:r>
          </a:p>
        </p:txBody>
      </p:sp>
      <p:sp>
        <p:nvSpPr>
          <p:cNvPr id="6" name="Rectangle 5"/>
          <p:cNvSpPr/>
          <p:nvPr/>
        </p:nvSpPr>
        <p:spPr>
          <a:xfrm>
            <a:off x="1051560" y="1828800"/>
            <a:ext cx="10149840" cy="1060704"/>
          </a:xfrm>
          <a:prstGeom prst="rect">
            <a:avLst/>
          </a:prstGeom>
          <a:solidFill>
            <a:srgbClr val="142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1828800"/>
            <a:ext cx="91440"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17320" y="1947672"/>
            <a:ext cx="3200400" cy="274320"/>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F59E0B"/>
                </a:solidFill>
                <a:latin typeface="Segoe UI"/>
              </a:rPr>
              <a:t>IF COST MATTERS MOST</a:t>
            </a:r>
          </a:p>
        </p:txBody>
      </p:sp>
      <p:sp>
        <p:nvSpPr>
          <p:cNvPr id="9" name="TextBox 8"/>
          <p:cNvSpPr txBox="1"/>
          <p:nvPr/>
        </p:nvSpPr>
        <p:spPr>
          <a:xfrm>
            <a:off x="1417320" y="2231136"/>
            <a:ext cx="5029200" cy="310896"/>
          </a:xfrm>
          <a:prstGeom prst="rect">
            <a:avLst/>
          </a:prstGeom>
          <a:noFill/>
        </p:spPr>
        <p:txBody>
          <a:bodyPr wrap="square" anchor="t" lIns="0" rIns="0" tIns="0" bIns="0">
            <a:spAutoFit/>
          </a:bodyPr>
          <a:lstStyle/>
          <a:p>
            <a:pPr algn="l">
              <a:lnSpc>
                <a:spcPct val="100000"/>
              </a:lnSpc>
              <a:spcBef>
                <a:spcPts val="0"/>
              </a:spcBef>
              <a:spcAft>
                <a:spcPts val="600"/>
              </a:spcAft>
            </a:pPr>
            <a:r>
              <a:rPr sz="1500" b="1">
                <a:solidFill>
                  <a:srgbClr val="FFFFFF"/>
                </a:solidFill>
                <a:latin typeface="Segoe UI"/>
              </a:rPr>
              <a:t>Hostinger VPS KVM 4, Mumbai</a:t>
            </a:r>
          </a:p>
        </p:txBody>
      </p:sp>
      <p:sp>
        <p:nvSpPr>
          <p:cNvPr id="10" name="TextBox 9"/>
          <p:cNvSpPr txBox="1"/>
          <p:nvPr/>
        </p:nvSpPr>
        <p:spPr>
          <a:xfrm>
            <a:off x="1417320" y="2551176"/>
            <a:ext cx="4937760" cy="27432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Rs. 1,297 / month</a:t>
            </a:r>
          </a:p>
        </p:txBody>
      </p:sp>
      <p:sp>
        <p:nvSpPr>
          <p:cNvPr id="11" name="TextBox 10"/>
          <p:cNvSpPr txBox="1"/>
          <p:nvPr/>
        </p:nvSpPr>
        <p:spPr>
          <a:xfrm>
            <a:off x="6583680" y="1947672"/>
            <a:ext cx="4480560" cy="868680"/>
          </a:xfrm>
          <a:prstGeom prst="rect">
            <a:avLst/>
          </a:prstGeom>
          <a:noFill/>
        </p:spPr>
        <p:txBody>
          <a:bodyPr wrap="square" anchor="t" lIns="0" rIns="0" tIns="0" bIns="0">
            <a:spAutoFit/>
          </a:bodyPr>
          <a:lstStyle/>
          <a:p>
            <a:pPr algn="l">
              <a:lnSpc>
                <a:spcPct val="115000"/>
              </a:lnSpc>
              <a:spcBef>
                <a:spcPts val="0"/>
              </a:spcBef>
              <a:spcAft>
                <a:spcPts val="600"/>
              </a:spcAft>
            </a:pPr>
            <a:r>
              <a:rPr sz="1150" b="0">
                <a:solidFill>
                  <a:srgbClr val="CBD5E1"/>
                </a:solidFill>
                <a:latin typeface="Segoe UI"/>
              </a:rPr>
              <a:t>Same 4 processors and 16 GB memory as the big clouds, in an Indian data centre, for a twentieth of the price. Best value on this list.</a:t>
            </a:r>
          </a:p>
        </p:txBody>
      </p:sp>
      <p:sp>
        <p:nvSpPr>
          <p:cNvPr id="12" name="Rectangle 11"/>
          <p:cNvSpPr/>
          <p:nvPr/>
        </p:nvSpPr>
        <p:spPr>
          <a:xfrm>
            <a:off x="1051560" y="2962656"/>
            <a:ext cx="10149840" cy="1060704"/>
          </a:xfrm>
          <a:prstGeom prst="rect">
            <a:avLst/>
          </a:prstGeom>
          <a:solidFill>
            <a:srgbClr val="142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51560" y="2962656"/>
            <a:ext cx="91440" cy="10607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3081528"/>
            <a:ext cx="3200400" cy="274320"/>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2563EB"/>
                </a:solidFill>
                <a:latin typeface="Segoe UI"/>
              </a:rPr>
              <a:t>OUR BALANCED PICK</a:t>
            </a:r>
          </a:p>
        </p:txBody>
      </p:sp>
      <p:sp>
        <p:nvSpPr>
          <p:cNvPr id="15" name="TextBox 14"/>
          <p:cNvSpPr txBox="1"/>
          <p:nvPr/>
        </p:nvSpPr>
        <p:spPr>
          <a:xfrm>
            <a:off x="1417320" y="3364992"/>
            <a:ext cx="5029200" cy="310896"/>
          </a:xfrm>
          <a:prstGeom prst="rect">
            <a:avLst/>
          </a:prstGeom>
          <a:noFill/>
        </p:spPr>
        <p:txBody>
          <a:bodyPr wrap="square" anchor="t" lIns="0" rIns="0" tIns="0" bIns="0">
            <a:spAutoFit/>
          </a:bodyPr>
          <a:lstStyle/>
          <a:p>
            <a:pPr algn="l">
              <a:lnSpc>
                <a:spcPct val="100000"/>
              </a:lnSpc>
              <a:spcBef>
                <a:spcPts val="0"/>
              </a:spcBef>
              <a:spcAft>
                <a:spcPts val="600"/>
              </a:spcAft>
            </a:pPr>
            <a:r>
              <a:rPr sz="1450" b="1">
                <a:solidFill>
                  <a:srgbClr val="FFFFFF"/>
                </a:solidFill>
                <a:latin typeface="Segoe UI"/>
              </a:rPr>
              <a:t>DigitalOcean Bangalore  or  AWS Lightsail Mumbai</a:t>
            </a:r>
          </a:p>
        </p:txBody>
      </p:sp>
      <p:sp>
        <p:nvSpPr>
          <p:cNvPr id="16" name="TextBox 15"/>
          <p:cNvSpPr txBox="1"/>
          <p:nvPr/>
        </p:nvSpPr>
        <p:spPr>
          <a:xfrm>
            <a:off x="1417320" y="3685032"/>
            <a:ext cx="4937760" cy="27432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2563EB"/>
                </a:solidFill>
                <a:latin typeface="Segoe UI"/>
              </a:rPr>
              <a:t>Rs. 5,401  /  Rs. 9,451 per month</a:t>
            </a:r>
          </a:p>
        </p:txBody>
      </p:sp>
      <p:sp>
        <p:nvSpPr>
          <p:cNvPr id="17" name="TextBox 16"/>
          <p:cNvSpPr txBox="1"/>
          <p:nvPr/>
        </p:nvSpPr>
        <p:spPr>
          <a:xfrm>
            <a:off x="6583680" y="3081528"/>
            <a:ext cx="4480560" cy="868680"/>
          </a:xfrm>
          <a:prstGeom prst="rect">
            <a:avLst/>
          </a:prstGeom>
          <a:noFill/>
        </p:spPr>
        <p:txBody>
          <a:bodyPr wrap="square" anchor="t" lIns="0" rIns="0" tIns="0" bIns="0">
            <a:spAutoFit/>
          </a:bodyPr>
          <a:lstStyle/>
          <a:p>
            <a:pPr algn="l">
              <a:lnSpc>
                <a:spcPct val="115000"/>
              </a:lnSpc>
              <a:spcBef>
                <a:spcPts val="0"/>
              </a:spcBef>
              <a:spcAft>
                <a:spcPts val="600"/>
              </a:spcAft>
            </a:pPr>
            <a:r>
              <a:rPr sz="1150" b="0">
                <a:solidFill>
                  <a:srgbClr val="CBD5E1"/>
                </a:solidFill>
                <a:latin typeface="Segoe UI"/>
              </a:rPr>
              <a:t>Proper cloud reliability, one-click daily backups, a flat bill you can predict, and an easy path to a bigger machine later.</a:t>
            </a:r>
          </a:p>
        </p:txBody>
      </p:sp>
      <p:sp>
        <p:nvSpPr>
          <p:cNvPr id="18" name="Rectangle 17"/>
          <p:cNvSpPr/>
          <p:nvPr/>
        </p:nvSpPr>
        <p:spPr>
          <a:xfrm>
            <a:off x="1051560" y="4096512"/>
            <a:ext cx="10149840" cy="1060704"/>
          </a:xfrm>
          <a:prstGeom prst="rect">
            <a:avLst/>
          </a:prstGeom>
          <a:solidFill>
            <a:srgbClr val="142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1560" y="4096512"/>
            <a:ext cx="91440" cy="1060704"/>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4215384"/>
            <a:ext cx="3200400" cy="274320"/>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0E9488"/>
                </a:solidFill>
                <a:latin typeface="Segoe UI"/>
              </a:rPr>
              <a:t>IF IT POLICY NEEDS A BIG NAME</a:t>
            </a:r>
          </a:p>
        </p:txBody>
      </p:sp>
      <p:sp>
        <p:nvSpPr>
          <p:cNvPr id="21" name="TextBox 20"/>
          <p:cNvSpPr txBox="1"/>
          <p:nvPr/>
        </p:nvSpPr>
        <p:spPr>
          <a:xfrm>
            <a:off x="1417320" y="4498848"/>
            <a:ext cx="5029200" cy="310896"/>
          </a:xfrm>
          <a:prstGeom prst="rect">
            <a:avLst/>
          </a:prstGeom>
          <a:noFill/>
        </p:spPr>
        <p:txBody>
          <a:bodyPr wrap="square" anchor="t" lIns="0" rIns="0" tIns="0" bIns="0">
            <a:spAutoFit/>
          </a:bodyPr>
          <a:lstStyle/>
          <a:p>
            <a:pPr algn="l">
              <a:lnSpc>
                <a:spcPct val="100000"/>
              </a:lnSpc>
              <a:spcBef>
                <a:spcPts val="0"/>
              </a:spcBef>
              <a:spcAft>
                <a:spcPts val="600"/>
              </a:spcAft>
            </a:pPr>
            <a:r>
              <a:rPr sz="1450" b="1">
                <a:solidFill>
                  <a:srgbClr val="FFFFFF"/>
                </a:solidFill>
                <a:latin typeface="Segoe UI"/>
              </a:rPr>
              <a:t>AWS, Azure or Google  ·  1-year commitment</a:t>
            </a:r>
          </a:p>
        </p:txBody>
      </p:sp>
      <p:sp>
        <p:nvSpPr>
          <p:cNvPr id="22" name="TextBox 21"/>
          <p:cNvSpPr txBox="1"/>
          <p:nvPr/>
        </p:nvSpPr>
        <p:spPr>
          <a:xfrm>
            <a:off x="1417320" y="4818888"/>
            <a:ext cx="4937760" cy="27432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0E9488"/>
                </a:solidFill>
                <a:latin typeface="Segoe UI"/>
              </a:rPr>
              <a:t>About Rs. 11,000 / month</a:t>
            </a:r>
          </a:p>
        </p:txBody>
      </p:sp>
      <p:sp>
        <p:nvSpPr>
          <p:cNvPr id="23" name="TextBox 22"/>
          <p:cNvSpPr txBox="1"/>
          <p:nvPr/>
        </p:nvSpPr>
        <p:spPr>
          <a:xfrm>
            <a:off x="6583680" y="4215384"/>
            <a:ext cx="4480560" cy="868680"/>
          </a:xfrm>
          <a:prstGeom prst="rect">
            <a:avLst/>
          </a:prstGeom>
          <a:noFill/>
        </p:spPr>
        <p:txBody>
          <a:bodyPr wrap="square" anchor="t" lIns="0" rIns="0" tIns="0" bIns="0">
            <a:spAutoFit/>
          </a:bodyPr>
          <a:lstStyle/>
          <a:p>
            <a:pPr algn="l">
              <a:lnSpc>
                <a:spcPct val="115000"/>
              </a:lnSpc>
              <a:spcBef>
                <a:spcPts val="0"/>
              </a:spcBef>
              <a:spcAft>
                <a:spcPts val="600"/>
              </a:spcAft>
            </a:pPr>
            <a:r>
              <a:rPr sz="1150" b="0">
                <a:solidFill>
                  <a:srgbClr val="CBD5E1"/>
                </a:solidFill>
                <a:latin typeface="Segoe UI"/>
              </a:rPr>
              <a:t>Choose Azure if you want the smallest change, since CLAMS runs there today. All three are MeitY empanelled for tenders and audits.</a:t>
            </a:r>
          </a:p>
        </p:txBody>
      </p:sp>
      <p:sp>
        <p:nvSpPr>
          <p:cNvPr id="24" name="Rectangle 23"/>
          <p:cNvSpPr/>
          <p:nvPr/>
        </p:nvSpPr>
        <p:spPr>
          <a:xfrm>
            <a:off x="1051560" y="5230368"/>
            <a:ext cx="10149840" cy="1060704"/>
          </a:xfrm>
          <a:prstGeom prst="rect">
            <a:avLst/>
          </a:prstGeom>
          <a:solidFill>
            <a:srgbClr val="1424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1560" y="5230368"/>
            <a:ext cx="91440" cy="1060704"/>
          </a:xfrm>
          <a:prstGeom prst="rect">
            <a:avLst/>
          </a:prstGeom>
          <a:solidFill>
            <a:srgbClr val="714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5349240"/>
            <a:ext cx="3200400" cy="274320"/>
          </a:xfrm>
          <a:prstGeom prst="rect">
            <a:avLst/>
          </a:prstGeom>
          <a:noFill/>
        </p:spPr>
        <p:txBody>
          <a:bodyPr wrap="square" anchor="t" lIns="0" rIns="0" tIns="0" bIns="0">
            <a:spAutoFit/>
          </a:bodyPr>
          <a:lstStyle/>
          <a:p>
            <a:pPr algn="l">
              <a:lnSpc>
                <a:spcPct val="100000"/>
              </a:lnSpc>
              <a:spcBef>
                <a:spcPts val="0"/>
              </a:spcBef>
              <a:spcAft>
                <a:spcPts val="600"/>
              </a:spcAft>
            </a:pPr>
            <a:r>
              <a:rPr sz="1050" b="1">
                <a:solidFill>
                  <a:srgbClr val="714BD1"/>
                </a:solidFill>
                <a:latin typeface="Segoe UI"/>
              </a:rPr>
              <a:t>IF YOU WANT TO OWN THE BOX</a:t>
            </a:r>
          </a:p>
        </p:txBody>
      </p:sp>
      <p:sp>
        <p:nvSpPr>
          <p:cNvPr id="27" name="TextBox 26"/>
          <p:cNvSpPr txBox="1"/>
          <p:nvPr/>
        </p:nvSpPr>
        <p:spPr>
          <a:xfrm>
            <a:off x="1417320" y="5632704"/>
            <a:ext cx="5029200" cy="310896"/>
          </a:xfrm>
          <a:prstGeom prst="rect">
            <a:avLst/>
          </a:prstGeom>
          <a:noFill/>
        </p:spPr>
        <p:txBody>
          <a:bodyPr wrap="square" anchor="t" lIns="0" rIns="0" tIns="0" bIns="0">
            <a:spAutoFit/>
          </a:bodyPr>
          <a:lstStyle/>
          <a:p>
            <a:pPr algn="l">
              <a:lnSpc>
                <a:spcPct val="100000"/>
              </a:lnSpc>
              <a:spcBef>
                <a:spcPts val="0"/>
              </a:spcBef>
              <a:spcAft>
                <a:spcPts val="600"/>
              </a:spcAft>
            </a:pPr>
            <a:r>
              <a:rPr sz="1500" b="1">
                <a:solidFill>
                  <a:srgbClr val="FFFFFF"/>
                </a:solidFill>
                <a:latin typeface="Segoe UI"/>
              </a:rPr>
              <a:t>Dell PowerEdge T360 in your office</a:t>
            </a:r>
          </a:p>
        </p:txBody>
      </p:sp>
      <p:sp>
        <p:nvSpPr>
          <p:cNvPr id="28" name="TextBox 27"/>
          <p:cNvSpPr txBox="1"/>
          <p:nvPr/>
        </p:nvSpPr>
        <p:spPr>
          <a:xfrm>
            <a:off x="1417320" y="5952744"/>
            <a:ext cx="4937760" cy="27432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714BD1"/>
                </a:solidFill>
                <a:latin typeface="Segoe UI"/>
              </a:rPr>
              <a:t>Rs. 2.2 lakh once + Rs. 3,500 / month</a:t>
            </a:r>
          </a:p>
        </p:txBody>
      </p:sp>
      <p:sp>
        <p:nvSpPr>
          <p:cNvPr id="29" name="TextBox 28"/>
          <p:cNvSpPr txBox="1"/>
          <p:nvPr/>
        </p:nvSpPr>
        <p:spPr>
          <a:xfrm>
            <a:off x="6583680" y="5349240"/>
            <a:ext cx="4480560" cy="868680"/>
          </a:xfrm>
          <a:prstGeom prst="rect">
            <a:avLst/>
          </a:prstGeom>
          <a:noFill/>
        </p:spPr>
        <p:txBody>
          <a:bodyPr wrap="square" anchor="t" lIns="0" rIns="0" tIns="0" bIns="0">
            <a:spAutoFit/>
          </a:bodyPr>
          <a:lstStyle/>
          <a:p>
            <a:pPr algn="l">
              <a:lnSpc>
                <a:spcPct val="115000"/>
              </a:lnSpc>
              <a:spcBef>
                <a:spcPts val="0"/>
              </a:spcBef>
              <a:spcAft>
                <a:spcPts val="600"/>
              </a:spcAft>
            </a:pPr>
            <a:r>
              <a:rPr sz="1150" b="0">
                <a:solidFill>
                  <a:srgbClr val="CBD5E1"/>
                </a:solidFill>
                <a:latin typeface="Segoe UI"/>
              </a:rPr>
              <a:t>Only worth it if a fixed IP line, UPS, cool room and an in-house person are already in place. Otherwise the cloud is cheaper and safer.</a:t>
            </a:r>
          </a:p>
        </p:txBody>
      </p:sp>
      <p:sp>
        <p:nvSpPr>
          <p:cNvPr id="30" name="TextBox 29"/>
          <p:cNvSpPr txBox="1"/>
          <p:nvPr/>
        </p:nvSpPr>
        <p:spPr>
          <a:xfrm>
            <a:off x="1051560" y="6400800"/>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a:solidFill>
                  <a:srgbClr val="94A3B8"/>
                </a:solidFill>
                <a:latin typeface="Segoe UI"/>
              </a:rPr>
              <a:t>Whatever you pick, the account is opened in your company's name. You own the server, the data and the bill.</a:t>
            </a:r>
          </a:p>
        </p:txBody>
      </p:sp>
      <p:sp>
        <p:nvSpPr>
          <p:cNvPr id="31" name="TextBox 30"/>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94A3B8"/>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548640"/>
            <a:ext cx="310896" cy="64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3584" y="402336"/>
            <a:ext cx="9601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a:solidFill>
                  <a:srgbClr val="F59E0B"/>
                </a:solidFill>
                <a:latin typeface="Segoe UI"/>
              </a:rPr>
              <a:t>MOVING DAY</a:t>
            </a:r>
          </a:p>
        </p:txBody>
      </p:sp>
      <p:sp>
        <p:nvSpPr>
          <p:cNvPr id="5" name="TextBox 4"/>
          <p:cNvSpPr txBox="1"/>
          <p:nvPr/>
        </p:nvSpPr>
        <p:spPr>
          <a:xfrm>
            <a:off x="822960" y="749808"/>
            <a:ext cx="10607040" cy="868680"/>
          </a:xfrm>
          <a:prstGeom prst="rect">
            <a:avLst/>
          </a:prstGeom>
          <a:noFill/>
        </p:spPr>
        <p:txBody>
          <a:bodyPr wrap="square" anchor="t" lIns="0" rIns="0" tIns="0" bIns="0">
            <a:spAutoFit/>
          </a:bodyPr>
          <a:lstStyle/>
          <a:p>
            <a:pPr algn="l">
              <a:lnSpc>
                <a:spcPct val="100000"/>
              </a:lnSpc>
              <a:spcBef>
                <a:spcPts val="0"/>
              </a:spcBef>
              <a:spcAft>
                <a:spcPts val="600"/>
              </a:spcAft>
            </a:pPr>
            <a:r>
              <a:rPr sz="3400" b="1">
                <a:solidFill>
                  <a:srgbClr val="0F172A"/>
                </a:solidFill>
                <a:latin typeface="Cambria"/>
              </a:rPr>
              <a:t>How we would make the switch</a:t>
            </a:r>
          </a:p>
        </p:txBody>
      </p:sp>
      <p:sp>
        <p:nvSpPr>
          <p:cNvPr id="6" name="Oval 5"/>
          <p:cNvSpPr/>
          <p:nvPr/>
        </p:nvSpPr>
        <p:spPr>
          <a:xfrm>
            <a:off x="822960" y="1572768"/>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72768"/>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1</a:t>
            </a:r>
          </a:p>
        </p:txBody>
      </p:sp>
      <p:sp>
        <p:nvSpPr>
          <p:cNvPr id="8" name="TextBox 7"/>
          <p:cNvSpPr txBox="1"/>
          <p:nvPr/>
        </p:nvSpPr>
        <p:spPr>
          <a:xfrm>
            <a:off x="1536192" y="1572768"/>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You choose</a:t>
            </a:r>
          </a:p>
        </p:txBody>
      </p:sp>
      <p:sp>
        <p:nvSpPr>
          <p:cNvPr id="9" name="TextBox 8"/>
          <p:cNvSpPr txBox="1"/>
          <p:nvPr/>
        </p:nvSpPr>
        <p:spPr>
          <a:xfrm>
            <a:off x="4526280" y="1572768"/>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You pick an option from this deck. We re-check the price on the day.</a:t>
            </a:r>
          </a:p>
        </p:txBody>
      </p:sp>
      <p:sp>
        <p:nvSpPr>
          <p:cNvPr id="10" name="Oval 9"/>
          <p:cNvSpPr/>
          <p:nvPr/>
        </p:nvSpPr>
        <p:spPr>
          <a:xfrm>
            <a:off x="822960" y="2157984"/>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57984"/>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2</a:t>
            </a:r>
          </a:p>
        </p:txBody>
      </p:sp>
      <p:sp>
        <p:nvSpPr>
          <p:cNvPr id="12" name="TextBox 11"/>
          <p:cNvSpPr txBox="1"/>
          <p:nvPr/>
        </p:nvSpPr>
        <p:spPr>
          <a:xfrm>
            <a:off x="1536192" y="2157984"/>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Account in your name</a:t>
            </a:r>
          </a:p>
        </p:txBody>
      </p:sp>
      <p:sp>
        <p:nvSpPr>
          <p:cNvPr id="13" name="TextBox 12"/>
          <p:cNvSpPr txBox="1"/>
          <p:nvPr/>
        </p:nvSpPr>
        <p:spPr>
          <a:xfrm>
            <a:off x="4526280" y="2157984"/>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The account and payment method are yours from the start. We are given access only to set it up.</a:t>
            </a:r>
          </a:p>
        </p:txBody>
      </p:sp>
      <p:sp>
        <p:nvSpPr>
          <p:cNvPr id="14" name="Oval 13"/>
          <p:cNvSpPr/>
          <p:nvPr/>
        </p:nvSpPr>
        <p:spPr>
          <a:xfrm>
            <a:off x="822960" y="2743200"/>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743200"/>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3</a:t>
            </a:r>
          </a:p>
        </p:txBody>
      </p:sp>
      <p:sp>
        <p:nvSpPr>
          <p:cNvPr id="16" name="TextBox 15"/>
          <p:cNvSpPr txBox="1"/>
          <p:nvPr/>
        </p:nvSpPr>
        <p:spPr>
          <a:xfrm>
            <a:off x="1536192" y="2743200"/>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We install CLAMS</a:t>
            </a:r>
          </a:p>
        </p:txBody>
      </p:sp>
      <p:sp>
        <p:nvSpPr>
          <p:cNvPr id="17" name="TextBox 16"/>
          <p:cNvSpPr txBox="1"/>
          <p:nvPr/>
        </p:nvSpPr>
        <p:spPr>
          <a:xfrm>
            <a:off x="4526280" y="2743200"/>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Same containers, same version. Usually done in one working day.</a:t>
            </a:r>
          </a:p>
        </p:txBody>
      </p:sp>
      <p:sp>
        <p:nvSpPr>
          <p:cNvPr id="18" name="Oval 17"/>
          <p:cNvSpPr/>
          <p:nvPr/>
        </p:nvSpPr>
        <p:spPr>
          <a:xfrm>
            <a:off x="822960" y="3328416"/>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328416"/>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4</a:t>
            </a:r>
          </a:p>
        </p:txBody>
      </p:sp>
      <p:sp>
        <p:nvSpPr>
          <p:cNvPr id="20" name="TextBox 19"/>
          <p:cNvSpPr txBox="1"/>
          <p:nvPr/>
        </p:nvSpPr>
        <p:spPr>
          <a:xfrm>
            <a:off x="1536192" y="3328416"/>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Data is copied over</a:t>
            </a:r>
          </a:p>
        </p:txBody>
      </p:sp>
      <p:sp>
        <p:nvSpPr>
          <p:cNvPr id="21" name="TextBox 20"/>
          <p:cNvSpPr txBox="1"/>
          <p:nvPr/>
        </p:nvSpPr>
        <p:spPr>
          <a:xfrm>
            <a:off x="4526280" y="3328416"/>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Workers, attendance, photos and the audit trail move across with nothing lost.</a:t>
            </a:r>
          </a:p>
        </p:txBody>
      </p:sp>
      <p:sp>
        <p:nvSpPr>
          <p:cNvPr id="22" name="Oval 21"/>
          <p:cNvSpPr/>
          <p:nvPr/>
        </p:nvSpPr>
        <p:spPr>
          <a:xfrm>
            <a:off x="822960" y="3913632"/>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13632"/>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5</a:t>
            </a:r>
          </a:p>
        </p:txBody>
      </p:sp>
      <p:sp>
        <p:nvSpPr>
          <p:cNvPr id="24" name="TextBox 23"/>
          <p:cNvSpPr txBox="1"/>
          <p:nvPr/>
        </p:nvSpPr>
        <p:spPr>
          <a:xfrm>
            <a:off x="1536192" y="3913632"/>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Two or three days of testing</a:t>
            </a:r>
          </a:p>
        </p:txBody>
      </p:sp>
      <p:sp>
        <p:nvSpPr>
          <p:cNvPr id="25" name="TextBox 24"/>
          <p:cNvSpPr txBox="1"/>
          <p:nvPr/>
        </p:nvSpPr>
        <p:spPr>
          <a:xfrm>
            <a:off x="4526280" y="3913632"/>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Both systems run side by side. Punch, sync, reports and SOS are all checked on the new server.</a:t>
            </a:r>
          </a:p>
        </p:txBody>
      </p:sp>
      <p:sp>
        <p:nvSpPr>
          <p:cNvPr id="26" name="Oval 25"/>
          <p:cNvSpPr/>
          <p:nvPr/>
        </p:nvSpPr>
        <p:spPr>
          <a:xfrm>
            <a:off x="822960" y="4498848"/>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498848"/>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6</a:t>
            </a:r>
          </a:p>
        </p:txBody>
      </p:sp>
      <p:sp>
        <p:nvSpPr>
          <p:cNvPr id="28" name="TextBox 27"/>
          <p:cNvSpPr txBox="1"/>
          <p:nvPr/>
        </p:nvSpPr>
        <p:spPr>
          <a:xfrm>
            <a:off x="1536192" y="4498848"/>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Switch over on a weekend</a:t>
            </a:r>
          </a:p>
        </p:txBody>
      </p:sp>
      <p:sp>
        <p:nvSpPr>
          <p:cNvPr id="29" name="TextBox 28"/>
          <p:cNvSpPr txBox="1"/>
          <p:nvPr/>
        </p:nvSpPr>
        <p:spPr>
          <a:xfrm>
            <a:off x="4526280" y="4498848"/>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The address changes over a quiet weekend. The old server stays available for two weeks as a fallback.</a:t>
            </a:r>
          </a:p>
        </p:txBody>
      </p:sp>
      <p:sp>
        <p:nvSpPr>
          <p:cNvPr id="30" name="Oval 29"/>
          <p:cNvSpPr/>
          <p:nvPr/>
        </p:nvSpPr>
        <p:spPr>
          <a:xfrm>
            <a:off x="822960" y="5084064"/>
            <a:ext cx="475488" cy="475488"/>
          </a:xfrm>
          <a:prstGeom prst="ellipse">
            <a:avLst/>
          </a:prstGeom>
          <a:solidFill>
            <a:srgbClr val="102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084064"/>
            <a:ext cx="475488" cy="475488"/>
          </a:xfrm>
          <a:prstGeom prst="rect">
            <a:avLst/>
          </a:prstGeom>
          <a:noFill/>
        </p:spPr>
        <p:txBody>
          <a:bodyPr wrap="square" anchor="ctr" lIns="0" rIns="0" tIns="0" bIns="0">
            <a:spAutoFit/>
          </a:bodyPr>
          <a:lstStyle/>
          <a:p>
            <a:pPr algn="ctr">
              <a:lnSpc>
                <a:spcPct val="100000"/>
              </a:lnSpc>
              <a:spcBef>
                <a:spcPts val="0"/>
              </a:spcBef>
              <a:spcAft>
                <a:spcPts val="600"/>
              </a:spcAft>
            </a:pPr>
            <a:r>
              <a:rPr sz="1500" b="1">
                <a:solidFill>
                  <a:srgbClr val="FFFFFF"/>
                </a:solidFill>
                <a:latin typeface="Segoe UI"/>
              </a:rPr>
              <a:t>7</a:t>
            </a:r>
          </a:p>
        </p:txBody>
      </p:sp>
      <p:sp>
        <p:nvSpPr>
          <p:cNvPr id="32" name="TextBox 31"/>
          <p:cNvSpPr txBox="1"/>
          <p:nvPr/>
        </p:nvSpPr>
        <p:spPr>
          <a:xfrm>
            <a:off x="1536192" y="5084064"/>
            <a:ext cx="28346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450" b="1">
                <a:solidFill>
                  <a:srgbClr val="0F172A"/>
                </a:solidFill>
                <a:latin typeface="Segoe UI"/>
              </a:rPr>
              <a:t>Handover</a:t>
            </a:r>
          </a:p>
        </p:txBody>
      </p:sp>
      <p:sp>
        <p:nvSpPr>
          <p:cNvPr id="33" name="TextBox 32"/>
          <p:cNvSpPr txBox="1"/>
          <p:nvPr/>
        </p:nvSpPr>
        <p:spPr>
          <a:xfrm>
            <a:off x="4526280" y="5084064"/>
            <a:ext cx="6858000" cy="475488"/>
          </a:xfrm>
          <a:prstGeom prst="rect">
            <a:avLst/>
          </a:prstGeom>
          <a:noFill/>
        </p:spPr>
        <p:txBody>
          <a:bodyPr wrap="square" anchor="ctr" lIns="0" rIns="0" tIns="0" bIns="0">
            <a:spAutoFit/>
          </a:bodyPr>
          <a:lstStyle/>
          <a:p>
            <a:pPr algn="l">
              <a:lnSpc>
                <a:spcPct val="112000"/>
              </a:lnSpc>
              <a:spcBef>
                <a:spcPts val="0"/>
              </a:spcBef>
              <a:spcAft>
                <a:spcPts val="600"/>
              </a:spcAft>
            </a:pPr>
            <a:r>
              <a:rPr sz="1200" b="0">
                <a:solidFill>
                  <a:srgbClr val="64748B"/>
                </a:solidFill>
                <a:latin typeface="Segoe UI"/>
              </a:rPr>
              <a:t>Passwords, backup schedule, monitoring and a written runbook are handed to your team.</a:t>
            </a:r>
          </a:p>
        </p:txBody>
      </p:sp>
      <p:sp>
        <p:nvSpPr>
          <p:cNvPr id="34" name="Rectangle 33"/>
          <p:cNvSpPr/>
          <p:nvPr/>
        </p:nvSpPr>
        <p:spPr>
          <a:xfrm>
            <a:off x="822960" y="5687568"/>
            <a:ext cx="10561320" cy="566928"/>
          </a:xfrm>
          <a:prstGeom prst="rect">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5687568"/>
            <a:ext cx="91440"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43000" y="5687568"/>
            <a:ext cx="10058400" cy="566928"/>
          </a:xfrm>
          <a:prstGeom prst="rect">
            <a:avLst/>
          </a:prstGeom>
          <a:noFill/>
        </p:spPr>
        <p:txBody>
          <a:bodyPr wrap="square" anchor="ctr" lIns="0" rIns="0" tIns="0" bIns="0">
            <a:spAutoFit/>
          </a:bodyPr>
          <a:lstStyle/>
          <a:p>
            <a:pPr algn="l">
              <a:lnSpc>
                <a:spcPct val="100000"/>
              </a:lnSpc>
              <a:spcBef>
                <a:spcPts val="0"/>
              </a:spcBef>
              <a:spcAft>
                <a:spcPts val="600"/>
              </a:spcAft>
            </a:pPr>
            <a:r>
              <a:rPr sz="1250" b="1">
                <a:solidFill>
                  <a:srgbClr val="B45309"/>
                </a:solidFill>
                <a:latin typeface="Segoe UI"/>
              </a:rPr>
              <a:t>Expected downtime:  </a:t>
            </a:r>
            <a:r>
              <a:rPr sz="1250" b="0">
                <a:solidFill>
                  <a:srgbClr val="0F172A"/>
                </a:solidFill>
                <a:latin typeface="Segoe UI"/>
              </a:rPr>
              <a:t>under 30 minutes, on a Sunday. Gate attendance keeps working on the phones throughout and syncs afterwards.</a:t>
            </a:r>
          </a:p>
        </p:txBody>
      </p:sp>
      <p:sp>
        <p:nvSpPr>
          <p:cNvPr id="37" name="TextBox 36"/>
          <p:cNvSpPr txBox="1"/>
          <p:nvPr/>
        </p:nvSpPr>
        <p:spPr>
          <a:xfrm>
            <a:off x="822960" y="6419088"/>
            <a:ext cx="8229600" cy="320040"/>
          </a:xfrm>
          <a:prstGeom prst="rect">
            <a:avLst/>
          </a:prstGeom>
          <a:noFill/>
        </p:spPr>
        <p:txBody>
          <a:bodyPr wrap="square" anchor="t" lIns="0" rIns="0" tIns="0" bIns="0">
            <a:spAutoFit/>
          </a:bodyPr>
          <a:lstStyle/>
          <a:p>
            <a:pPr algn="l">
              <a:lnSpc>
                <a:spcPct val="100000"/>
              </a:lnSpc>
              <a:spcBef>
                <a:spcPts val="0"/>
              </a:spcBef>
              <a:spcAft>
                <a:spcPts val="600"/>
              </a:spcAft>
            </a:pPr>
            <a:r>
              <a:rPr sz="950" b="0">
                <a:solidFill>
                  <a:srgbClr val="64748B"/>
                </a:solidFill>
                <a:latin typeface="Segoe UI"/>
              </a:rPr>
              <a:t>CLAMS  ·  Hosting on your own server  ·  Prices as on 10 Aug 2026</a:t>
            </a:r>
          </a:p>
        </p:txBody>
      </p:sp>
      <p:sp>
        <p:nvSpPr>
          <p:cNvPr id="38" name="TextBox 37"/>
          <p:cNvSpPr txBox="1"/>
          <p:nvPr/>
        </p:nvSpPr>
        <p:spPr>
          <a:xfrm>
            <a:off x="10607040" y="6419088"/>
            <a:ext cx="777240" cy="320040"/>
          </a:xfrm>
          <a:prstGeom prst="rect">
            <a:avLst/>
          </a:prstGeom>
          <a:noFill/>
        </p:spPr>
        <p:txBody>
          <a:bodyPr wrap="square" anchor="t" lIns="0" rIns="0" tIns="0" bIns="0">
            <a:spAutoFit/>
          </a:bodyPr>
          <a:lstStyle/>
          <a:p>
            <a:pPr algn="r">
              <a:lnSpc>
                <a:spcPct val="100000"/>
              </a:lnSpc>
              <a:spcBef>
                <a:spcPts val="0"/>
              </a:spcBef>
              <a:spcAft>
                <a:spcPts val="600"/>
              </a:spcAft>
            </a:pPr>
            <a:r>
              <a:rPr sz="1050" b="1">
                <a:solidFill>
                  <a:srgbClr val="64748B"/>
                </a:solidFill>
                <a:latin typeface="Segoe U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